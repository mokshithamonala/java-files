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3"/>
  </p:notesMasterIdLst>
  <p:sldIdLst>
    <p:sldId id="256" r:id="rId2"/>
    <p:sldId id="257" r:id="rId3"/>
    <p:sldId id="258" r:id="rId4"/>
    <p:sldId id="273"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4" r:id="rId19"/>
    <p:sldId id="275" r:id="rId20"/>
    <p:sldId id="276" r:id="rId21"/>
    <p:sldId id="277" r:id="rId22"/>
    <p:sldId id="281" r:id="rId23"/>
    <p:sldId id="278" r:id="rId24"/>
    <p:sldId id="279" r:id="rId25"/>
    <p:sldId id="280" r:id="rId26"/>
    <p:sldId id="282" r:id="rId27"/>
    <p:sldId id="283" r:id="rId28"/>
    <p:sldId id="284" r:id="rId29"/>
    <p:sldId id="285" r:id="rId30"/>
    <p:sldId id="286" r:id="rId31"/>
    <p:sldId id="287" r:id="rId32"/>
    <p:sldId id="288" r:id="rId33"/>
    <p:sldId id="289" r:id="rId34"/>
    <p:sldId id="293" r:id="rId35"/>
    <p:sldId id="290" r:id="rId36"/>
    <p:sldId id="291" r:id="rId37"/>
    <p:sldId id="292"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8" r:id="rId52"/>
    <p:sldId id="310" r:id="rId53"/>
    <p:sldId id="311" r:id="rId54"/>
    <p:sldId id="312" r:id="rId55"/>
    <p:sldId id="313" r:id="rId56"/>
    <p:sldId id="317" r:id="rId57"/>
    <p:sldId id="315" r:id="rId58"/>
    <p:sldId id="324" r:id="rId59"/>
    <p:sldId id="316" r:id="rId60"/>
    <p:sldId id="321" r:id="rId61"/>
    <p:sldId id="319" r:id="rId62"/>
    <p:sldId id="318" r:id="rId63"/>
    <p:sldId id="320" r:id="rId64"/>
    <p:sldId id="322" r:id="rId65"/>
    <p:sldId id="325" r:id="rId66"/>
    <p:sldId id="326" r:id="rId67"/>
    <p:sldId id="327" r:id="rId68"/>
    <p:sldId id="328" r:id="rId69"/>
    <p:sldId id="329" r:id="rId70"/>
    <p:sldId id="331" r:id="rId71"/>
    <p:sldId id="330" r:id="rId72"/>
    <p:sldId id="333" r:id="rId73"/>
    <p:sldId id="332" r:id="rId74"/>
    <p:sldId id="340" r:id="rId75"/>
    <p:sldId id="341" r:id="rId76"/>
    <p:sldId id="334" r:id="rId77"/>
    <p:sldId id="335" r:id="rId78"/>
    <p:sldId id="336" r:id="rId79"/>
    <p:sldId id="337" r:id="rId80"/>
    <p:sldId id="338" r:id="rId81"/>
    <p:sldId id="339" r:id="rId8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0" autoAdjust="0"/>
    <p:restoredTop sz="93447" autoAdjust="0"/>
  </p:normalViewPr>
  <p:slideViewPr>
    <p:cSldViewPr snapToGrid="0">
      <p:cViewPr>
        <p:scale>
          <a:sx n="63" d="100"/>
          <a:sy n="63" d="100"/>
        </p:scale>
        <p:origin x="1604" y="56"/>
      </p:cViewPr>
      <p:guideLst/>
    </p:cSldViewPr>
  </p:slideViewPr>
  <p:outlineViewPr>
    <p:cViewPr>
      <p:scale>
        <a:sx n="33" d="100"/>
        <a:sy n="33" d="100"/>
      </p:scale>
      <p:origin x="0" y="-16452"/>
    </p:cViewPr>
  </p:outlineViewPr>
  <p:notesTextViewPr>
    <p:cViewPr>
      <p:scale>
        <a:sx n="1" d="1"/>
        <a:sy n="1" d="1"/>
      </p:scale>
      <p:origin x="0" y="0"/>
    </p:cViewPr>
  </p:notesTextViewPr>
  <p:sorterViewPr>
    <p:cViewPr varScale="1">
      <p:scale>
        <a:sx n="100" d="100"/>
        <a:sy n="100" d="100"/>
      </p:scale>
      <p:origin x="0" y="-210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C8092-83E3-4839-93C5-D60AE84402BC}" type="datetimeFigureOut">
              <a:rPr lang="en-IN" smtClean="0"/>
              <a:t>23-03-2026</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756DDA-A9F4-4144-88A6-D94B888706C5}" type="slidenum">
              <a:rPr lang="en-IN" smtClean="0"/>
              <a:t>‹#›</a:t>
            </a:fld>
            <a:endParaRPr lang="en-IN" dirty="0"/>
          </a:p>
        </p:txBody>
      </p:sp>
    </p:spTree>
    <p:extLst>
      <p:ext uri="{BB962C8B-B14F-4D97-AF65-F5344CB8AC3E}">
        <p14:creationId xmlns:p14="http://schemas.microsoft.com/office/powerpoint/2010/main" val="102584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756DDA-A9F4-4144-88A6-D94B888706C5}" type="slidenum">
              <a:rPr lang="en-IN" smtClean="0"/>
              <a:t>37</a:t>
            </a:fld>
            <a:endParaRPr lang="en-IN" dirty="0"/>
          </a:p>
        </p:txBody>
      </p:sp>
    </p:spTree>
    <p:extLst>
      <p:ext uri="{BB962C8B-B14F-4D97-AF65-F5344CB8AC3E}">
        <p14:creationId xmlns:p14="http://schemas.microsoft.com/office/powerpoint/2010/main" val="3166837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756DDA-A9F4-4144-88A6-D94B888706C5}" type="slidenum">
              <a:rPr lang="en-IN" smtClean="0"/>
              <a:t>50</a:t>
            </a:fld>
            <a:endParaRPr lang="en-IN" dirty="0"/>
          </a:p>
        </p:txBody>
      </p:sp>
    </p:spTree>
    <p:extLst>
      <p:ext uri="{BB962C8B-B14F-4D97-AF65-F5344CB8AC3E}">
        <p14:creationId xmlns:p14="http://schemas.microsoft.com/office/powerpoint/2010/main" val="760814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3909543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3065405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64315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331381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120038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361837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780261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2312264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235841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2297942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C31298-8235-4772-8517-6DC0142538F4}" type="datetimeFigureOut">
              <a:rPr lang="en-IN" smtClean="0"/>
              <a:t>23-03-2026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DABFDDC-EE6B-430B-8F2B-609BDE12146C}" type="slidenum">
              <a:rPr lang="en-IN" smtClean="0"/>
              <a:t>‹#›</a:t>
            </a:fld>
            <a:endParaRPr lang="en-IN" dirty="0"/>
          </a:p>
        </p:txBody>
      </p:sp>
    </p:spTree>
    <p:extLst>
      <p:ext uri="{BB962C8B-B14F-4D97-AF65-F5344CB8AC3E}">
        <p14:creationId xmlns:p14="http://schemas.microsoft.com/office/powerpoint/2010/main" val="3185731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C31298-8235-4772-8517-6DC0142538F4}" type="datetimeFigureOut">
              <a:rPr lang="en-IN" smtClean="0"/>
              <a:t>23-03-2026</a:t>
            </a:fld>
            <a:endParaRPr lang="en-IN"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ABFDDC-EE6B-430B-8F2B-609BDE12146C}" type="slidenum">
              <a:rPr lang="en-IN" smtClean="0"/>
              <a:t>‹#›</a:t>
            </a:fld>
            <a:endParaRPr lang="en-IN" dirty="0"/>
          </a:p>
        </p:txBody>
      </p:sp>
    </p:spTree>
    <p:extLst>
      <p:ext uri="{BB962C8B-B14F-4D97-AF65-F5344CB8AC3E}">
        <p14:creationId xmlns:p14="http://schemas.microsoft.com/office/powerpoint/2010/main" val="223156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BD3D0-456D-ABDE-6528-7A6894D5BA3C}"/>
              </a:ext>
            </a:extLst>
          </p:cNvPr>
          <p:cNvSpPr>
            <a:spLocks noGrp="1"/>
          </p:cNvSpPr>
          <p:nvPr>
            <p:ph type="title"/>
          </p:nvPr>
        </p:nvSpPr>
        <p:spPr/>
        <p:txBody>
          <a:bodyPr/>
          <a:lstStyle/>
          <a:p>
            <a:r>
              <a:rPr lang="en-US" dirty="0"/>
              <a:t>Unit-3</a:t>
            </a:r>
            <a:endParaRPr lang="en-IN" dirty="0"/>
          </a:p>
        </p:txBody>
      </p:sp>
      <p:sp>
        <p:nvSpPr>
          <p:cNvPr id="4" name="Content Placeholder 3">
            <a:extLst>
              <a:ext uri="{FF2B5EF4-FFF2-40B4-BE49-F238E27FC236}">
                <a16:creationId xmlns:a16="http://schemas.microsoft.com/office/drawing/2014/main" id="{395A3526-DB41-22D5-2B83-F0B24F557C46}"/>
              </a:ext>
            </a:extLst>
          </p:cNvPr>
          <p:cNvSpPr>
            <a:spLocks noGrp="1"/>
          </p:cNvSpPr>
          <p:nvPr>
            <p:ph idx="1"/>
          </p:nvPr>
        </p:nvSpPr>
        <p:spPr/>
        <p:txBody>
          <a:bodyPr/>
          <a:lstStyle/>
          <a:p>
            <a:pPr>
              <a:lnSpc>
                <a:spcPct val="107000"/>
              </a:lnSpc>
              <a:spcAft>
                <a:spcPts val="600"/>
              </a:spcAft>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Memory Organization </a:t>
            </a:r>
          </a:p>
          <a:p>
            <a:pPr>
              <a:lnSpc>
                <a:spcPct val="107000"/>
              </a:lnSpc>
              <a:spcAft>
                <a:spcPts val="600"/>
              </a:spcAft>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 Cache Memory Organization</a:t>
            </a:r>
          </a:p>
          <a:p>
            <a:pPr>
              <a:lnSpc>
                <a:spcPct val="107000"/>
              </a:lnSpc>
              <a:spcAft>
                <a:spcPts val="600"/>
              </a:spcAft>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Main Memory &amp; Interleaving</a:t>
            </a:r>
          </a:p>
          <a:p>
            <a:pPr>
              <a:lnSpc>
                <a:spcPct val="107000"/>
              </a:lnSpc>
              <a:spcAft>
                <a:spcPts val="600"/>
              </a:spcAft>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I/O Organization</a:t>
            </a:r>
          </a:p>
          <a:p>
            <a:pPr>
              <a:lnSpc>
                <a:spcPct val="107000"/>
              </a:lnSpc>
              <a:spcAft>
                <a:spcPts val="600"/>
              </a:spcAft>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Modern Processors, Parallel Processing</a:t>
            </a:r>
          </a:p>
          <a:p>
            <a:pPr marL="0" indent="0">
              <a:lnSpc>
                <a:spcPct val="107000"/>
              </a:lnSpc>
              <a:spcAft>
                <a:spcPts val="600"/>
              </a:spcAft>
              <a:buNone/>
            </a:pPr>
            <a:endParaRPr lang="en-IN" sz="1350" kern="100"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82276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5E45E3-9C54-9823-8D2F-87A2B343F959}"/>
              </a:ext>
            </a:extLst>
          </p:cNvPr>
          <p:cNvPicPr>
            <a:picLocks noChangeAspect="1"/>
          </p:cNvPicPr>
          <p:nvPr/>
        </p:nvPicPr>
        <p:blipFill>
          <a:blip r:embed="rId2"/>
          <a:stretch>
            <a:fillRect/>
          </a:stretch>
        </p:blipFill>
        <p:spPr>
          <a:xfrm>
            <a:off x="383722" y="538480"/>
            <a:ext cx="8435158" cy="5872480"/>
          </a:xfrm>
          <a:prstGeom prst="rect">
            <a:avLst/>
          </a:prstGeom>
        </p:spPr>
      </p:pic>
    </p:spTree>
    <p:extLst>
      <p:ext uri="{BB962C8B-B14F-4D97-AF65-F5344CB8AC3E}">
        <p14:creationId xmlns:p14="http://schemas.microsoft.com/office/powerpoint/2010/main" val="2448620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276CC5-108A-E784-6A53-5BBEC37D696C}"/>
              </a:ext>
            </a:extLst>
          </p:cNvPr>
          <p:cNvPicPr>
            <a:picLocks noChangeAspect="1"/>
          </p:cNvPicPr>
          <p:nvPr/>
        </p:nvPicPr>
        <p:blipFill>
          <a:blip r:embed="rId2"/>
          <a:stretch>
            <a:fillRect/>
          </a:stretch>
        </p:blipFill>
        <p:spPr>
          <a:xfrm>
            <a:off x="595993" y="1240972"/>
            <a:ext cx="7323364" cy="4335236"/>
          </a:xfrm>
          <a:prstGeom prst="rect">
            <a:avLst/>
          </a:prstGeom>
        </p:spPr>
      </p:pic>
    </p:spTree>
    <p:extLst>
      <p:ext uri="{BB962C8B-B14F-4D97-AF65-F5344CB8AC3E}">
        <p14:creationId xmlns:p14="http://schemas.microsoft.com/office/powerpoint/2010/main" val="2133774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AD6E34-C6A3-509A-A0DF-F4B0936FD2D6}"/>
              </a:ext>
            </a:extLst>
          </p:cNvPr>
          <p:cNvPicPr>
            <a:picLocks noChangeAspect="1"/>
          </p:cNvPicPr>
          <p:nvPr/>
        </p:nvPicPr>
        <p:blipFill>
          <a:blip r:embed="rId2"/>
          <a:stretch>
            <a:fillRect/>
          </a:stretch>
        </p:blipFill>
        <p:spPr>
          <a:xfrm>
            <a:off x="514350" y="1265464"/>
            <a:ext cx="8009165" cy="4245428"/>
          </a:xfrm>
          <a:prstGeom prst="rect">
            <a:avLst/>
          </a:prstGeom>
        </p:spPr>
      </p:pic>
    </p:spTree>
    <p:extLst>
      <p:ext uri="{BB962C8B-B14F-4D97-AF65-F5344CB8AC3E}">
        <p14:creationId xmlns:p14="http://schemas.microsoft.com/office/powerpoint/2010/main" val="55691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F0AE78-CB50-3A2C-F9FE-D02555824072}"/>
              </a:ext>
            </a:extLst>
          </p:cNvPr>
          <p:cNvPicPr>
            <a:picLocks noChangeAspect="1"/>
          </p:cNvPicPr>
          <p:nvPr/>
        </p:nvPicPr>
        <p:blipFill>
          <a:blip r:embed="rId2"/>
          <a:stretch>
            <a:fillRect/>
          </a:stretch>
        </p:blipFill>
        <p:spPr>
          <a:xfrm>
            <a:off x="391886" y="1387928"/>
            <a:ext cx="8041822" cy="4310744"/>
          </a:xfrm>
          <a:prstGeom prst="rect">
            <a:avLst/>
          </a:prstGeom>
        </p:spPr>
      </p:pic>
    </p:spTree>
    <p:extLst>
      <p:ext uri="{BB962C8B-B14F-4D97-AF65-F5344CB8AC3E}">
        <p14:creationId xmlns:p14="http://schemas.microsoft.com/office/powerpoint/2010/main" val="289892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EEA11D-57E4-67A8-2418-9CEFB83A421F}"/>
              </a:ext>
            </a:extLst>
          </p:cNvPr>
          <p:cNvPicPr>
            <a:picLocks noChangeAspect="1"/>
          </p:cNvPicPr>
          <p:nvPr/>
        </p:nvPicPr>
        <p:blipFill>
          <a:blip r:embed="rId2"/>
          <a:stretch>
            <a:fillRect/>
          </a:stretch>
        </p:blipFill>
        <p:spPr>
          <a:xfrm>
            <a:off x="426720" y="518160"/>
            <a:ext cx="8148320" cy="5760719"/>
          </a:xfrm>
          <a:prstGeom prst="rect">
            <a:avLst/>
          </a:prstGeom>
        </p:spPr>
      </p:pic>
    </p:spTree>
    <p:extLst>
      <p:ext uri="{BB962C8B-B14F-4D97-AF65-F5344CB8AC3E}">
        <p14:creationId xmlns:p14="http://schemas.microsoft.com/office/powerpoint/2010/main" val="2324882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7D566D-47B0-4E90-1298-19E6FB102859}"/>
              </a:ext>
            </a:extLst>
          </p:cNvPr>
          <p:cNvPicPr>
            <a:picLocks noChangeAspect="1"/>
          </p:cNvPicPr>
          <p:nvPr/>
        </p:nvPicPr>
        <p:blipFill>
          <a:blip r:embed="rId2"/>
          <a:stretch>
            <a:fillRect/>
          </a:stretch>
        </p:blipFill>
        <p:spPr>
          <a:xfrm>
            <a:off x="661307" y="1200150"/>
            <a:ext cx="7796893" cy="4212772"/>
          </a:xfrm>
          <a:prstGeom prst="rect">
            <a:avLst/>
          </a:prstGeom>
        </p:spPr>
      </p:pic>
    </p:spTree>
    <p:extLst>
      <p:ext uri="{BB962C8B-B14F-4D97-AF65-F5344CB8AC3E}">
        <p14:creationId xmlns:p14="http://schemas.microsoft.com/office/powerpoint/2010/main" val="1398995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854C81-6133-7BBC-338B-E732425EC74C}"/>
              </a:ext>
            </a:extLst>
          </p:cNvPr>
          <p:cNvPicPr>
            <a:picLocks noChangeAspect="1"/>
          </p:cNvPicPr>
          <p:nvPr/>
        </p:nvPicPr>
        <p:blipFill>
          <a:blip r:embed="rId2"/>
          <a:stretch>
            <a:fillRect/>
          </a:stretch>
        </p:blipFill>
        <p:spPr>
          <a:xfrm>
            <a:off x="457200" y="1510393"/>
            <a:ext cx="8082643" cy="3812722"/>
          </a:xfrm>
          <a:prstGeom prst="rect">
            <a:avLst/>
          </a:prstGeom>
        </p:spPr>
      </p:pic>
    </p:spTree>
    <p:extLst>
      <p:ext uri="{BB962C8B-B14F-4D97-AF65-F5344CB8AC3E}">
        <p14:creationId xmlns:p14="http://schemas.microsoft.com/office/powerpoint/2010/main" val="4066516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7558E2-1230-C9FC-B48F-E12584C4045C}"/>
              </a:ext>
            </a:extLst>
          </p:cNvPr>
          <p:cNvPicPr>
            <a:picLocks noChangeAspect="1"/>
          </p:cNvPicPr>
          <p:nvPr/>
        </p:nvPicPr>
        <p:blipFill>
          <a:blip r:embed="rId2"/>
          <a:stretch>
            <a:fillRect/>
          </a:stretch>
        </p:blipFill>
        <p:spPr>
          <a:xfrm>
            <a:off x="388345" y="1303433"/>
            <a:ext cx="8229600" cy="4304841"/>
          </a:xfrm>
          <a:prstGeom prst="rect">
            <a:avLst/>
          </a:prstGeom>
        </p:spPr>
      </p:pic>
    </p:spTree>
    <p:extLst>
      <p:ext uri="{BB962C8B-B14F-4D97-AF65-F5344CB8AC3E}">
        <p14:creationId xmlns:p14="http://schemas.microsoft.com/office/powerpoint/2010/main" val="1994794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94387A-85FA-683A-2C8D-A4B7241DC394}"/>
              </a:ext>
            </a:extLst>
          </p:cNvPr>
          <p:cNvPicPr>
            <a:picLocks noChangeAspect="1"/>
          </p:cNvPicPr>
          <p:nvPr/>
        </p:nvPicPr>
        <p:blipFill>
          <a:blip r:embed="rId2"/>
          <a:stretch>
            <a:fillRect/>
          </a:stretch>
        </p:blipFill>
        <p:spPr>
          <a:xfrm>
            <a:off x="791935" y="1289957"/>
            <a:ext cx="7290707" cy="4229100"/>
          </a:xfrm>
          <a:prstGeom prst="rect">
            <a:avLst/>
          </a:prstGeom>
        </p:spPr>
      </p:pic>
    </p:spTree>
    <p:extLst>
      <p:ext uri="{BB962C8B-B14F-4D97-AF65-F5344CB8AC3E}">
        <p14:creationId xmlns:p14="http://schemas.microsoft.com/office/powerpoint/2010/main" val="2443286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D7EA54-5E70-8D71-4AA1-E0C331498E70}"/>
              </a:ext>
            </a:extLst>
          </p:cNvPr>
          <p:cNvPicPr>
            <a:picLocks noChangeAspect="1"/>
          </p:cNvPicPr>
          <p:nvPr/>
        </p:nvPicPr>
        <p:blipFill>
          <a:blip r:embed="rId2"/>
          <a:stretch>
            <a:fillRect/>
          </a:stretch>
        </p:blipFill>
        <p:spPr>
          <a:xfrm>
            <a:off x="791936" y="1355272"/>
            <a:ext cx="7641772" cy="4229100"/>
          </a:xfrm>
          <a:prstGeom prst="rect">
            <a:avLst/>
          </a:prstGeom>
        </p:spPr>
      </p:pic>
    </p:spTree>
    <p:extLst>
      <p:ext uri="{BB962C8B-B14F-4D97-AF65-F5344CB8AC3E}">
        <p14:creationId xmlns:p14="http://schemas.microsoft.com/office/powerpoint/2010/main" val="3506084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3898C3-9CC2-E729-3ABE-A90F7610A861}"/>
              </a:ext>
            </a:extLst>
          </p:cNvPr>
          <p:cNvPicPr>
            <a:picLocks noChangeAspect="1"/>
          </p:cNvPicPr>
          <p:nvPr/>
        </p:nvPicPr>
        <p:blipFill>
          <a:blip r:embed="rId2"/>
          <a:stretch>
            <a:fillRect/>
          </a:stretch>
        </p:blipFill>
        <p:spPr>
          <a:xfrm>
            <a:off x="734786" y="1453243"/>
            <a:ext cx="7453993" cy="4180115"/>
          </a:xfrm>
          <a:prstGeom prst="rect">
            <a:avLst/>
          </a:prstGeom>
        </p:spPr>
      </p:pic>
    </p:spTree>
    <p:extLst>
      <p:ext uri="{BB962C8B-B14F-4D97-AF65-F5344CB8AC3E}">
        <p14:creationId xmlns:p14="http://schemas.microsoft.com/office/powerpoint/2010/main" val="1427384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B4DD7-1660-4B5D-8C2B-1E2501862EA5}"/>
              </a:ext>
            </a:extLst>
          </p:cNvPr>
          <p:cNvSpPr>
            <a:spLocks noGrp="1"/>
          </p:cNvSpPr>
          <p:nvPr>
            <p:ph type="title"/>
          </p:nvPr>
        </p:nvSpPr>
        <p:spPr/>
        <p:txBody>
          <a:bodyPr/>
          <a:lstStyle/>
          <a:p>
            <a:r>
              <a:rPr lang="en-IN" b="1" dirty="0"/>
              <a:t>Memory Hierarchy Design</a:t>
            </a:r>
          </a:p>
        </p:txBody>
      </p:sp>
      <p:sp>
        <p:nvSpPr>
          <p:cNvPr id="3" name="Content Placeholder 2">
            <a:extLst>
              <a:ext uri="{FF2B5EF4-FFF2-40B4-BE49-F238E27FC236}">
                <a16:creationId xmlns:a16="http://schemas.microsoft.com/office/drawing/2014/main" id="{DE409D6B-34C4-7024-FEED-B579003E3124}"/>
              </a:ext>
            </a:extLst>
          </p:cNvPr>
          <p:cNvSpPr>
            <a:spLocks noGrp="1"/>
          </p:cNvSpPr>
          <p:nvPr>
            <p:ph idx="1"/>
          </p:nvPr>
        </p:nvSpPr>
        <p:spPr/>
        <p:txBody>
          <a:bodyPr/>
          <a:lstStyle/>
          <a:p>
            <a:r>
              <a:rPr lang="en-US" dirty="0"/>
              <a:t>organize the memory so that it can actually minimize the access time. </a:t>
            </a:r>
          </a:p>
          <a:p>
            <a:r>
              <a:rPr lang="en-US" dirty="0"/>
              <a:t>The development of the Memory Hierarchy occurred on a behavior of a program known as locality of references.</a:t>
            </a:r>
            <a:endParaRPr lang="en-IN" dirty="0"/>
          </a:p>
        </p:txBody>
      </p:sp>
    </p:spTree>
    <p:extLst>
      <p:ext uri="{BB962C8B-B14F-4D97-AF65-F5344CB8AC3E}">
        <p14:creationId xmlns:p14="http://schemas.microsoft.com/office/powerpoint/2010/main" val="647626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7830C62-66EB-3777-9371-707142D6204F}"/>
              </a:ext>
            </a:extLst>
          </p:cNvPr>
          <p:cNvPicPr>
            <a:picLocks noGrp="1" noChangeAspect="1"/>
          </p:cNvPicPr>
          <p:nvPr>
            <p:ph idx="4294967295"/>
          </p:nvPr>
        </p:nvPicPr>
        <p:blipFill>
          <a:blip r:embed="rId2"/>
          <a:stretch>
            <a:fillRect/>
          </a:stretch>
        </p:blipFill>
        <p:spPr>
          <a:xfrm>
            <a:off x="0" y="1400175"/>
            <a:ext cx="7169150" cy="4306888"/>
          </a:xfrm>
        </p:spPr>
      </p:pic>
    </p:spTree>
    <p:extLst>
      <p:ext uri="{BB962C8B-B14F-4D97-AF65-F5344CB8AC3E}">
        <p14:creationId xmlns:p14="http://schemas.microsoft.com/office/powerpoint/2010/main" val="979682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47140-42F4-8D1E-BDBE-85CB2008C16D}"/>
              </a:ext>
            </a:extLst>
          </p:cNvPr>
          <p:cNvSpPr>
            <a:spLocks noGrp="1"/>
          </p:cNvSpPr>
          <p:nvPr>
            <p:ph type="title"/>
          </p:nvPr>
        </p:nvSpPr>
        <p:spPr/>
        <p:txBody>
          <a:bodyPr/>
          <a:lstStyle/>
          <a:p>
            <a:r>
              <a:rPr lang="en-IN" dirty="0"/>
              <a:t>Types of Memory Hierarchy</a:t>
            </a:r>
          </a:p>
        </p:txBody>
      </p:sp>
      <p:sp>
        <p:nvSpPr>
          <p:cNvPr id="3" name="Content Placeholder 2">
            <a:extLst>
              <a:ext uri="{FF2B5EF4-FFF2-40B4-BE49-F238E27FC236}">
                <a16:creationId xmlns:a16="http://schemas.microsoft.com/office/drawing/2014/main" id="{50C0F911-A4CF-AAC5-1412-110FBA3B718B}"/>
              </a:ext>
            </a:extLst>
          </p:cNvPr>
          <p:cNvSpPr>
            <a:spLocks noGrp="1"/>
          </p:cNvSpPr>
          <p:nvPr>
            <p:ph idx="1"/>
          </p:nvPr>
        </p:nvSpPr>
        <p:spPr/>
        <p:txBody>
          <a:bodyPr/>
          <a:lstStyle/>
          <a:p>
            <a:pPr marL="0" indent="0">
              <a:buNone/>
            </a:pPr>
            <a:endParaRPr lang="en-US" dirty="0"/>
          </a:p>
          <a:p>
            <a:r>
              <a:rPr lang="en-US" b="1" dirty="0"/>
              <a:t>External Memory or Secondary Memory</a:t>
            </a:r>
            <a:r>
              <a:rPr lang="en-US" dirty="0"/>
              <a:t>: Comprising of Magnetic Disk, Optical Disk, and Magnetic Tape i.e. peripheral storage devices which are accessible by the processor via an I/O Module.</a:t>
            </a:r>
          </a:p>
          <a:p>
            <a:pPr marL="0" indent="0">
              <a:buNone/>
            </a:pPr>
            <a:endParaRPr lang="en-US" dirty="0"/>
          </a:p>
          <a:p>
            <a:r>
              <a:rPr lang="en-US" dirty="0"/>
              <a:t> </a:t>
            </a:r>
            <a:r>
              <a:rPr lang="en-US" b="1" dirty="0"/>
              <a:t>Internal Memory or Primary Memory</a:t>
            </a:r>
            <a:r>
              <a:rPr lang="en-US" dirty="0"/>
              <a:t>: Comprising of Main Memory, Cache Memory &amp; CPU registers. This is directly accessible by the processor.</a:t>
            </a:r>
            <a:endParaRPr lang="en-IN" dirty="0"/>
          </a:p>
        </p:txBody>
      </p:sp>
    </p:spTree>
    <p:extLst>
      <p:ext uri="{BB962C8B-B14F-4D97-AF65-F5344CB8AC3E}">
        <p14:creationId xmlns:p14="http://schemas.microsoft.com/office/powerpoint/2010/main" val="3546936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FFB0-65CA-BF9A-1DA3-4776C2922606}"/>
              </a:ext>
            </a:extLst>
          </p:cNvPr>
          <p:cNvSpPr>
            <a:spLocks noGrp="1"/>
          </p:cNvSpPr>
          <p:nvPr>
            <p:ph type="title"/>
          </p:nvPr>
        </p:nvSpPr>
        <p:spPr/>
        <p:txBody>
          <a:bodyPr/>
          <a:lstStyle/>
          <a:p>
            <a:r>
              <a:rPr lang="en-US" dirty="0"/>
              <a:t>1. Registers</a:t>
            </a:r>
            <a:endParaRPr lang="en-IN" dirty="0"/>
          </a:p>
        </p:txBody>
      </p:sp>
      <p:sp>
        <p:nvSpPr>
          <p:cNvPr id="3" name="Content Placeholder 2">
            <a:extLst>
              <a:ext uri="{FF2B5EF4-FFF2-40B4-BE49-F238E27FC236}">
                <a16:creationId xmlns:a16="http://schemas.microsoft.com/office/drawing/2014/main" id="{13ED8133-689E-8AD0-EC4E-9CBEE098BA41}"/>
              </a:ext>
            </a:extLst>
          </p:cNvPr>
          <p:cNvSpPr>
            <a:spLocks noGrp="1"/>
          </p:cNvSpPr>
          <p:nvPr>
            <p:ph idx="1"/>
          </p:nvPr>
        </p:nvSpPr>
        <p:spPr/>
        <p:txBody>
          <a:bodyPr/>
          <a:lstStyle/>
          <a:p>
            <a:r>
              <a:rPr lang="en-US" dirty="0"/>
              <a:t>Registers are small, high-speed memory units located in the CPU.</a:t>
            </a:r>
          </a:p>
          <a:p>
            <a:r>
              <a:rPr lang="en-US" dirty="0"/>
              <a:t> They are used to store the most frequently used data and instructions.</a:t>
            </a:r>
          </a:p>
          <a:p>
            <a:r>
              <a:rPr lang="en-US" dirty="0"/>
              <a:t> Registers have the fastest access time and the smallest storage capacity, typically ranging from 16 to 64 bits.</a:t>
            </a:r>
          </a:p>
          <a:p>
            <a:endParaRPr lang="en-IN" dirty="0"/>
          </a:p>
        </p:txBody>
      </p:sp>
    </p:spTree>
    <p:extLst>
      <p:ext uri="{BB962C8B-B14F-4D97-AF65-F5344CB8AC3E}">
        <p14:creationId xmlns:p14="http://schemas.microsoft.com/office/powerpoint/2010/main" val="3592960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DFB24-B943-C415-F4DE-EA2753B1EE73}"/>
              </a:ext>
            </a:extLst>
          </p:cNvPr>
          <p:cNvSpPr>
            <a:spLocks noGrp="1"/>
          </p:cNvSpPr>
          <p:nvPr>
            <p:ph type="title"/>
          </p:nvPr>
        </p:nvSpPr>
        <p:spPr/>
        <p:txBody>
          <a:bodyPr/>
          <a:lstStyle/>
          <a:p>
            <a:r>
              <a:rPr lang="en-US" dirty="0"/>
              <a:t>2. Cache Memory</a:t>
            </a:r>
            <a:endParaRPr lang="en-IN" dirty="0"/>
          </a:p>
        </p:txBody>
      </p:sp>
      <p:sp>
        <p:nvSpPr>
          <p:cNvPr id="3" name="Content Placeholder 2">
            <a:extLst>
              <a:ext uri="{FF2B5EF4-FFF2-40B4-BE49-F238E27FC236}">
                <a16:creationId xmlns:a16="http://schemas.microsoft.com/office/drawing/2014/main" id="{2E464527-01A3-8DE2-CF81-5B57B9E4FEF5}"/>
              </a:ext>
            </a:extLst>
          </p:cNvPr>
          <p:cNvSpPr>
            <a:spLocks noGrp="1"/>
          </p:cNvSpPr>
          <p:nvPr>
            <p:ph idx="1"/>
          </p:nvPr>
        </p:nvSpPr>
        <p:spPr/>
        <p:txBody>
          <a:bodyPr/>
          <a:lstStyle/>
          <a:p>
            <a:r>
              <a:rPr lang="en-US" dirty="0"/>
              <a:t> Cache memory is a small, fast memory unit located close to the CPU.</a:t>
            </a:r>
          </a:p>
          <a:p>
            <a:r>
              <a:rPr lang="en-US" dirty="0"/>
              <a:t> It stores frequently used data and instructions that have been recently accessed from the main memory. </a:t>
            </a:r>
          </a:p>
          <a:p>
            <a:r>
              <a:rPr lang="en-US" dirty="0"/>
              <a:t>Cache memory is designed to minimize the time it takes to access data by providing the CPU with quick access to frequently used data.</a:t>
            </a:r>
            <a:endParaRPr lang="en-IN" dirty="0"/>
          </a:p>
        </p:txBody>
      </p:sp>
    </p:spTree>
    <p:extLst>
      <p:ext uri="{BB962C8B-B14F-4D97-AF65-F5344CB8AC3E}">
        <p14:creationId xmlns:p14="http://schemas.microsoft.com/office/powerpoint/2010/main" val="1587676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2A6E-425B-4890-A7E1-C6B180ED8508}"/>
              </a:ext>
            </a:extLst>
          </p:cNvPr>
          <p:cNvSpPr>
            <a:spLocks noGrp="1"/>
          </p:cNvSpPr>
          <p:nvPr>
            <p:ph type="title"/>
          </p:nvPr>
        </p:nvSpPr>
        <p:spPr/>
        <p:txBody>
          <a:bodyPr/>
          <a:lstStyle/>
          <a:p>
            <a:r>
              <a:rPr lang="en-IN" dirty="0"/>
              <a:t>Main Memory</a:t>
            </a:r>
          </a:p>
        </p:txBody>
      </p:sp>
      <p:sp>
        <p:nvSpPr>
          <p:cNvPr id="3" name="Content Placeholder 2">
            <a:extLst>
              <a:ext uri="{FF2B5EF4-FFF2-40B4-BE49-F238E27FC236}">
                <a16:creationId xmlns:a16="http://schemas.microsoft.com/office/drawing/2014/main" id="{0B211040-5348-F49E-91D2-7205677BE060}"/>
              </a:ext>
            </a:extLst>
          </p:cNvPr>
          <p:cNvSpPr>
            <a:spLocks noGrp="1"/>
          </p:cNvSpPr>
          <p:nvPr>
            <p:ph idx="1"/>
          </p:nvPr>
        </p:nvSpPr>
        <p:spPr/>
        <p:txBody>
          <a:bodyPr/>
          <a:lstStyle/>
          <a:p>
            <a:r>
              <a:rPr lang="en-US" dirty="0"/>
              <a:t>also known as RAM (Random Access Memory), is the primary memory of a computer system. </a:t>
            </a:r>
          </a:p>
          <a:p>
            <a:r>
              <a:rPr lang="en-US" dirty="0"/>
              <a:t>It has a larger storage capacity than cache memory, but it is slower.</a:t>
            </a:r>
          </a:p>
          <a:p>
            <a:r>
              <a:rPr lang="en-US" dirty="0"/>
              <a:t> Main memory is used to store data and instructions that are currently in use by the CPU.</a:t>
            </a:r>
            <a:endParaRPr lang="en-IN" dirty="0"/>
          </a:p>
        </p:txBody>
      </p:sp>
    </p:spTree>
    <p:extLst>
      <p:ext uri="{BB962C8B-B14F-4D97-AF65-F5344CB8AC3E}">
        <p14:creationId xmlns:p14="http://schemas.microsoft.com/office/powerpoint/2010/main" val="3395012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69988-08B8-B8AC-0F47-DE87BF5BF11C}"/>
              </a:ext>
            </a:extLst>
          </p:cNvPr>
          <p:cNvSpPr>
            <a:spLocks noGrp="1"/>
          </p:cNvSpPr>
          <p:nvPr>
            <p:ph type="title"/>
          </p:nvPr>
        </p:nvSpPr>
        <p:spPr/>
        <p:txBody>
          <a:bodyPr/>
          <a:lstStyle/>
          <a:p>
            <a:r>
              <a:rPr lang="en-IN" b="1" dirty="0"/>
              <a:t>Types of Main Memory</a:t>
            </a:r>
          </a:p>
        </p:txBody>
      </p:sp>
      <p:sp>
        <p:nvSpPr>
          <p:cNvPr id="3" name="Content Placeholder 2">
            <a:extLst>
              <a:ext uri="{FF2B5EF4-FFF2-40B4-BE49-F238E27FC236}">
                <a16:creationId xmlns:a16="http://schemas.microsoft.com/office/drawing/2014/main" id="{8764831C-5B1D-C4DD-7EEC-E926F313967C}"/>
              </a:ext>
            </a:extLst>
          </p:cNvPr>
          <p:cNvSpPr>
            <a:spLocks noGrp="1"/>
          </p:cNvSpPr>
          <p:nvPr>
            <p:ph idx="1"/>
          </p:nvPr>
        </p:nvSpPr>
        <p:spPr/>
        <p:txBody>
          <a:bodyPr/>
          <a:lstStyle/>
          <a:p>
            <a:r>
              <a:rPr lang="en-US" b="1" dirty="0"/>
              <a:t>Static RAM</a:t>
            </a:r>
            <a:r>
              <a:rPr lang="en-US" dirty="0"/>
              <a:t>: stores the binary information in flip flops and information remains valid until power is supplied. It has a faster access time and is used in implementing cache memory. </a:t>
            </a:r>
          </a:p>
          <a:p>
            <a:endParaRPr lang="en-US" dirty="0"/>
          </a:p>
          <a:p>
            <a:r>
              <a:rPr lang="en-US" b="1" dirty="0"/>
              <a:t>Dynamic RAM</a:t>
            </a:r>
            <a:r>
              <a:rPr lang="en-US" dirty="0"/>
              <a:t>: It stores the binary information as a charge on the capacitor. It requires refreshing circuitry to maintain the charge on the capacitors after a few milliseconds. It contains more memory cells per unit area as compared to SRAM.</a:t>
            </a:r>
            <a:endParaRPr lang="en-IN" dirty="0"/>
          </a:p>
        </p:txBody>
      </p:sp>
    </p:spTree>
    <p:extLst>
      <p:ext uri="{BB962C8B-B14F-4D97-AF65-F5344CB8AC3E}">
        <p14:creationId xmlns:p14="http://schemas.microsoft.com/office/powerpoint/2010/main" val="2919247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401A0-8242-B00D-C492-01B2D6D7F1C8}"/>
              </a:ext>
            </a:extLst>
          </p:cNvPr>
          <p:cNvSpPr>
            <a:spLocks noGrp="1"/>
          </p:cNvSpPr>
          <p:nvPr>
            <p:ph type="title"/>
          </p:nvPr>
        </p:nvSpPr>
        <p:spPr/>
        <p:txBody>
          <a:bodyPr/>
          <a:lstStyle/>
          <a:p>
            <a:r>
              <a:rPr lang="en-IN" dirty="0"/>
              <a:t>4. Secondary Storage</a:t>
            </a:r>
          </a:p>
        </p:txBody>
      </p:sp>
      <p:sp>
        <p:nvSpPr>
          <p:cNvPr id="3" name="Content Placeholder 2">
            <a:extLst>
              <a:ext uri="{FF2B5EF4-FFF2-40B4-BE49-F238E27FC236}">
                <a16:creationId xmlns:a16="http://schemas.microsoft.com/office/drawing/2014/main" id="{2D2A9101-BB3A-FE32-06BC-C2B68B8517E7}"/>
              </a:ext>
            </a:extLst>
          </p:cNvPr>
          <p:cNvSpPr>
            <a:spLocks noGrp="1"/>
          </p:cNvSpPr>
          <p:nvPr>
            <p:ph idx="1"/>
          </p:nvPr>
        </p:nvSpPr>
        <p:spPr/>
        <p:txBody>
          <a:bodyPr/>
          <a:lstStyle/>
          <a:p>
            <a:r>
              <a:rPr lang="en-US" dirty="0"/>
              <a:t>It is non-volatile memory unit that has a larger storage capacity than main memory.</a:t>
            </a:r>
          </a:p>
          <a:p>
            <a:r>
              <a:rPr lang="en-US" dirty="0"/>
              <a:t> It is used to store data and instructions that are not currently in use by the CPU.</a:t>
            </a:r>
          </a:p>
          <a:p>
            <a:r>
              <a:rPr lang="en-US" dirty="0"/>
              <a:t> Secondary storage has the slowest access time and is typically the least expensive type of memory in the memory hierarchy.</a:t>
            </a:r>
            <a:endParaRPr lang="en-IN" dirty="0"/>
          </a:p>
        </p:txBody>
      </p:sp>
    </p:spTree>
    <p:extLst>
      <p:ext uri="{BB962C8B-B14F-4D97-AF65-F5344CB8AC3E}">
        <p14:creationId xmlns:p14="http://schemas.microsoft.com/office/powerpoint/2010/main" val="1638025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6F48C-7188-DE8B-201D-9ADCE0156264}"/>
              </a:ext>
            </a:extLst>
          </p:cNvPr>
          <p:cNvSpPr>
            <a:spLocks noGrp="1"/>
          </p:cNvSpPr>
          <p:nvPr>
            <p:ph type="title"/>
          </p:nvPr>
        </p:nvSpPr>
        <p:spPr/>
        <p:txBody>
          <a:bodyPr/>
          <a:lstStyle/>
          <a:p>
            <a:r>
              <a:rPr lang="en-US" dirty="0"/>
              <a:t>Magnetic disks</a:t>
            </a:r>
            <a:endParaRPr lang="en-IN" dirty="0"/>
          </a:p>
        </p:txBody>
      </p:sp>
      <p:sp>
        <p:nvSpPr>
          <p:cNvPr id="3" name="Content Placeholder 2">
            <a:extLst>
              <a:ext uri="{FF2B5EF4-FFF2-40B4-BE49-F238E27FC236}">
                <a16:creationId xmlns:a16="http://schemas.microsoft.com/office/drawing/2014/main" id="{8F4AA6B8-0B65-68BB-884F-984AE2C0A3E2}"/>
              </a:ext>
            </a:extLst>
          </p:cNvPr>
          <p:cNvSpPr>
            <a:spLocks noGrp="1"/>
          </p:cNvSpPr>
          <p:nvPr>
            <p:ph idx="1"/>
          </p:nvPr>
        </p:nvSpPr>
        <p:spPr/>
        <p:txBody>
          <a:bodyPr/>
          <a:lstStyle/>
          <a:p>
            <a:r>
              <a:rPr lang="en-US" dirty="0"/>
              <a:t>are simply circular plates that are fabricated with either a metal or a plastic or a magnetized material. </a:t>
            </a:r>
          </a:p>
          <a:p>
            <a:r>
              <a:rPr lang="en-US" dirty="0"/>
              <a:t>The Magnetic disks work at a high speed inside the computer and these are frequently used.</a:t>
            </a:r>
            <a:endParaRPr lang="en-IN" dirty="0"/>
          </a:p>
        </p:txBody>
      </p:sp>
    </p:spTree>
    <p:extLst>
      <p:ext uri="{BB962C8B-B14F-4D97-AF65-F5344CB8AC3E}">
        <p14:creationId xmlns:p14="http://schemas.microsoft.com/office/powerpoint/2010/main" val="2441490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0B5CA4-9F87-892B-BA47-D2210F7431CB}"/>
              </a:ext>
            </a:extLst>
          </p:cNvPr>
          <p:cNvPicPr>
            <a:picLocks noChangeAspect="1"/>
          </p:cNvPicPr>
          <p:nvPr/>
        </p:nvPicPr>
        <p:blipFill>
          <a:blip r:embed="rId2"/>
          <a:stretch>
            <a:fillRect/>
          </a:stretch>
        </p:blipFill>
        <p:spPr>
          <a:xfrm>
            <a:off x="1065883" y="857250"/>
            <a:ext cx="5684703" cy="4122519"/>
          </a:xfrm>
          <a:prstGeom prst="rect">
            <a:avLst/>
          </a:prstGeom>
        </p:spPr>
      </p:pic>
      <p:sp>
        <p:nvSpPr>
          <p:cNvPr id="7" name="TextBox 6">
            <a:extLst>
              <a:ext uri="{FF2B5EF4-FFF2-40B4-BE49-F238E27FC236}">
                <a16:creationId xmlns:a16="http://schemas.microsoft.com/office/drawing/2014/main" id="{254FC929-76A2-0791-7B9C-5CB782B9C6BC}"/>
              </a:ext>
            </a:extLst>
          </p:cNvPr>
          <p:cNvSpPr txBox="1"/>
          <p:nvPr/>
        </p:nvSpPr>
        <p:spPr>
          <a:xfrm>
            <a:off x="173516" y="5178616"/>
            <a:ext cx="7676003" cy="507831"/>
          </a:xfrm>
          <a:prstGeom prst="rect">
            <a:avLst/>
          </a:prstGeom>
          <a:noFill/>
        </p:spPr>
        <p:txBody>
          <a:bodyPr wrap="square">
            <a:spAutoFit/>
          </a:bodyPr>
          <a:lstStyle/>
          <a:p>
            <a:r>
              <a:rPr lang="en-IN" sz="1350" dirty="0"/>
              <a:t>The memory bits are stored in the magnetized surface in spots along the concentric circles called tracks</a:t>
            </a:r>
          </a:p>
          <a:p>
            <a:r>
              <a:rPr lang="en-IN" sz="1350" dirty="0"/>
              <a:t> The concentric circles (tracks) are commonly divided into sections called sectors</a:t>
            </a:r>
          </a:p>
        </p:txBody>
      </p:sp>
    </p:spTree>
    <p:extLst>
      <p:ext uri="{BB962C8B-B14F-4D97-AF65-F5344CB8AC3E}">
        <p14:creationId xmlns:p14="http://schemas.microsoft.com/office/powerpoint/2010/main" val="4205319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0B54-9549-7FD4-123B-46A1C8BDBFC9}"/>
              </a:ext>
            </a:extLst>
          </p:cNvPr>
          <p:cNvSpPr>
            <a:spLocks noGrp="1"/>
          </p:cNvSpPr>
          <p:nvPr>
            <p:ph type="title"/>
          </p:nvPr>
        </p:nvSpPr>
        <p:spPr/>
        <p:txBody>
          <a:bodyPr/>
          <a:lstStyle/>
          <a:p>
            <a:r>
              <a:rPr lang="en-US" dirty="0"/>
              <a:t>Magnetic tape</a:t>
            </a:r>
            <a:endParaRPr lang="en-IN" dirty="0"/>
          </a:p>
        </p:txBody>
      </p:sp>
      <p:sp>
        <p:nvSpPr>
          <p:cNvPr id="3" name="Content Placeholder 2">
            <a:extLst>
              <a:ext uri="{FF2B5EF4-FFF2-40B4-BE49-F238E27FC236}">
                <a16:creationId xmlns:a16="http://schemas.microsoft.com/office/drawing/2014/main" id="{C4A12CFB-54D6-70EF-9EFF-633F9F22185D}"/>
              </a:ext>
            </a:extLst>
          </p:cNvPr>
          <p:cNvSpPr>
            <a:spLocks noGrp="1"/>
          </p:cNvSpPr>
          <p:nvPr>
            <p:ph idx="1"/>
          </p:nvPr>
        </p:nvSpPr>
        <p:spPr/>
        <p:txBody>
          <a:bodyPr/>
          <a:lstStyle/>
          <a:p>
            <a:r>
              <a:rPr lang="en-US" dirty="0"/>
              <a:t>simply a magnetic recording device that is covered with a plastic film.</a:t>
            </a:r>
          </a:p>
          <a:p>
            <a:r>
              <a:rPr lang="en-US" dirty="0"/>
              <a:t> It is generally used for the backup of data. </a:t>
            </a:r>
          </a:p>
          <a:p>
            <a:r>
              <a:rPr lang="en-US" dirty="0"/>
              <a:t>In the case of a magnetic tape, the access time for a computer is a little slower and therefore, it requires some amount of time for accessing the strip.</a:t>
            </a:r>
            <a:endParaRPr lang="en-IN" dirty="0"/>
          </a:p>
        </p:txBody>
      </p:sp>
    </p:spTree>
    <p:extLst>
      <p:ext uri="{BB962C8B-B14F-4D97-AF65-F5344CB8AC3E}">
        <p14:creationId xmlns:p14="http://schemas.microsoft.com/office/powerpoint/2010/main" val="3858313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6B1BD-DF2C-894D-6E31-CBB80A882E4A}"/>
              </a:ext>
            </a:extLst>
          </p:cNvPr>
          <p:cNvSpPr>
            <a:spLocks noGrp="1"/>
          </p:cNvSpPr>
          <p:nvPr>
            <p:ph type="title"/>
          </p:nvPr>
        </p:nvSpPr>
        <p:spPr/>
        <p:txBody>
          <a:bodyPr/>
          <a:lstStyle/>
          <a:p>
            <a:r>
              <a:rPr lang="en-IN" dirty="0"/>
              <a:t>Characteristics of Memory Hierarchy</a:t>
            </a:r>
          </a:p>
        </p:txBody>
      </p:sp>
      <p:sp>
        <p:nvSpPr>
          <p:cNvPr id="3" name="Content Placeholder 2">
            <a:extLst>
              <a:ext uri="{FF2B5EF4-FFF2-40B4-BE49-F238E27FC236}">
                <a16:creationId xmlns:a16="http://schemas.microsoft.com/office/drawing/2014/main" id="{1278EDB6-36D2-47D5-FBD9-626B33CBD5DD}"/>
              </a:ext>
            </a:extLst>
          </p:cNvPr>
          <p:cNvSpPr>
            <a:spLocks noGrp="1"/>
          </p:cNvSpPr>
          <p:nvPr>
            <p:ph idx="1"/>
          </p:nvPr>
        </p:nvSpPr>
        <p:spPr/>
        <p:txBody>
          <a:bodyPr/>
          <a:lstStyle/>
          <a:p>
            <a:r>
              <a:rPr lang="en-US" b="1" dirty="0"/>
              <a:t>Capacity</a:t>
            </a:r>
            <a:r>
              <a:rPr lang="en-US" dirty="0"/>
              <a:t>: It is the global volume of information the memory can store. As we move from top to bottom in the Hierarchy, the capacity increases.</a:t>
            </a:r>
          </a:p>
          <a:p>
            <a:r>
              <a:rPr lang="en-US" b="1" dirty="0"/>
              <a:t>Access Time</a:t>
            </a:r>
            <a:r>
              <a:rPr lang="en-US" dirty="0"/>
              <a:t>: As we move from top to bottom in the Hierarchy, the access time increases.</a:t>
            </a:r>
          </a:p>
          <a:p>
            <a:r>
              <a:rPr lang="en-US" b="1" dirty="0"/>
              <a:t>Performance:  </a:t>
            </a:r>
            <a:r>
              <a:rPr lang="en-US" dirty="0"/>
              <a:t>It will be increased with the use of this memory hierarchy.</a:t>
            </a:r>
          </a:p>
          <a:p>
            <a:r>
              <a:rPr lang="en-US" b="1" dirty="0"/>
              <a:t>Cost Per Bit</a:t>
            </a:r>
            <a:r>
              <a:rPr lang="en-US" dirty="0"/>
              <a:t>: As we move from bottom to top in the Hierarchy, the cost per bit increases i.e. Internal Memory is costlier than External Memory.</a:t>
            </a:r>
          </a:p>
        </p:txBody>
      </p:sp>
    </p:spTree>
    <p:extLst>
      <p:ext uri="{BB962C8B-B14F-4D97-AF65-F5344CB8AC3E}">
        <p14:creationId xmlns:p14="http://schemas.microsoft.com/office/powerpoint/2010/main" val="1779899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56F7-70FE-381C-993B-54282756ED4C}"/>
              </a:ext>
            </a:extLst>
          </p:cNvPr>
          <p:cNvSpPr>
            <a:spLocks noGrp="1"/>
          </p:cNvSpPr>
          <p:nvPr>
            <p:ph type="title"/>
          </p:nvPr>
        </p:nvSpPr>
        <p:spPr/>
        <p:txBody>
          <a:bodyPr/>
          <a:lstStyle/>
          <a:p>
            <a:r>
              <a:rPr lang="en-IN" dirty="0"/>
              <a:t>Advantages of Memory Hierarchy</a:t>
            </a:r>
          </a:p>
        </p:txBody>
      </p:sp>
      <p:sp>
        <p:nvSpPr>
          <p:cNvPr id="3" name="Content Placeholder 2">
            <a:extLst>
              <a:ext uri="{FF2B5EF4-FFF2-40B4-BE49-F238E27FC236}">
                <a16:creationId xmlns:a16="http://schemas.microsoft.com/office/drawing/2014/main" id="{712B5CFF-AF60-B843-B987-20A4FD406557}"/>
              </a:ext>
            </a:extLst>
          </p:cNvPr>
          <p:cNvSpPr>
            <a:spLocks noGrp="1"/>
          </p:cNvSpPr>
          <p:nvPr>
            <p:ph idx="1"/>
          </p:nvPr>
        </p:nvSpPr>
        <p:spPr/>
        <p:txBody>
          <a:bodyPr/>
          <a:lstStyle/>
          <a:p>
            <a:pPr algn="just"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helps in removing some destruction, and managing the memory in a better way.</a:t>
            </a:r>
          </a:p>
          <a:p>
            <a:pPr algn="just"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helps in spreading the data all over the computer system.</a:t>
            </a:r>
          </a:p>
          <a:p>
            <a:pPr algn="just" fontAlgn="base">
              <a:buFont typeface="Arial" panose="020B0604020202020204" pitchFamily="34" charset="0"/>
              <a:buChar char="•"/>
            </a:pPr>
            <a:r>
              <a:rPr lang="en-US" b="0" i="0" dirty="0">
                <a:solidFill>
                  <a:srgbClr val="273239"/>
                </a:solidFill>
                <a:effectLst/>
                <a:highlight>
                  <a:srgbClr val="FFFFFF"/>
                </a:highlight>
                <a:latin typeface="Nunito" pitchFamily="2" charset="0"/>
              </a:rPr>
              <a:t>It saves the consumer’s price and time.</a:t>
            </a:r>
          </a:p>
          <a:p>
            <a:endParaRPr lang="en-IN" dirty="0"/>
          </a:p>
        </p:txBody>
      </p:sp>
    </p:spTree>
    <p:extLst>
      <p:ext uri="{BB962C8B-B14F-4D97-AF65-F5344CB8AC3E}">
        <p14:creationId xmlns:p14="http://schemas.microsoft.com/office/powerpoint/2010/main" val="1073264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F5C3-AAF2-31DA-F8D1-FD399EF0C7D1}"/>
              </a:ext>
            </a:extLst>
          </p:cNvPr>
          <p:cNvSpPr>
            <a:spLocks noGrp="1"/>
          </p:cNvSpPr>
          <p:nvPr>
            <p:ph type="title"/>
          </p:nvPr>
        </p:nvSpPr>
        <p:spPr/>
        <p:txBody>
          <a:bodyPr/>
          <a:lstStyle/>
          <a:p>
            <a:r>
              <a:rPr lang="en-US" b="1" dirty="0"/>
              <a:t>Cache memory</a:t>
            </a:r>
            <a:endParaRPr lang="en-IN" b="1" dirty="0"/>
          </a:p>
        </p:txBody>
      </p:sp>
      <p:sp>
        <p:nvSpPr>
          <p:cNvPr id="3" name="Content Placeholder 2">
            <a:extLst>
              <a:ext uri="{FF2B5EF4-FFF2-40B4-BE49-F238E27FC236}">
                <a16:creationId xmlns:a16="http://schemas.microsoft.com/office/drawing/2014/main" id="{D6BA6D67-ACD5-02E9-DF0D-2E96DC0CC8D7}"/>
              </a:ext>
            </a:extLst>
          </p:cNvPr>
          <p:cNvSpPr>
            <a:spLocks noGrp="1"/>
          </p:cNvSpPr>
          <p:nvPr>
            <p:ph idx="1"/>
          </p:nvPr>
        </p:nvSpPr>
        <p:spPr/>
        <p:txBody>
          <a:bodyPr/>
          <a:lstStyle/>
          <a:p>
            <a:r>
              <a:rPr lang="en-US" dirty="0"/>
              <a:t>Cache memory is a special type of high-speed memory located close to the CPU in a computer.</a:t>
            </a:r>
          </a:p>
          <a:p>
            <a:r>
              <a:rPr lang="en-US" dirty="0"/>
              <a:t> It stores frequently used data and instructions, So that the CPU can access them quickly, improving the overall speed and efficiency of the computer. </a:t>
            </a:r>
          </a:p>
          <a:p>
            <a:r>
              <a:rPr lang="en-US" dirty="0"/>
              <a:t>It is a faster and smaller segment of memory whose access time is as close as registers. </a:t>
            </a:r>
          </a:p>
          <a:p>
            <a:r>
              <a:rPr lang="en-US" dirty="0"/>
              <a:t>In a hierarchy of memory, cache memory has access time lesser than primary memory. Generally, cache memory is used as a buffer.</a:t>
            </a:r>
            <a:endParaRPr lang="en-IN" dirty="0"/>
          </a:p>
        </p:txBody>
      </p:sp>
    </p:spTree>
    <p:extLst>
      <p:ext uri="{BB962C8B-B14F-4D97-AF65-F5344CB8AC3E}">
        <p14:creationId xmlns:p14="http://schemas.microsoft.com/office/powerpoint/2010/main" val="344379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F29DBB-37A2-F88D-7453-CEB9ECB5176D}"/>
              </a:ext>
            </a:extLst>
          </p:cNvPr>
          <p:cNvPicPr>
            <a:picLocks noChangeAspect="1"/>
          </p:cNvPicPr>
          <p:nvPr/>
        </p:nvPicPr>
        <p:blipFill>
          <a:blip r:embed="rId2"/>
          <a:stretch>
            <a:fillRect/>
          </a:stretch>
        </p:blipFill>
        <p:spPr>
          <a:xfrm>
            <a:off x="440872" y="1134836"/>
            <a:ext cx="7842824" cy="4335236"/>
          </a:xfrm>
          <a:prstGeom prst="rect">
            <a:avLst/>
          </a:prstGeom>
        </p:spPr>
      </p:pic>
    </p:spTree>
    <p:extLst>
      <p:ext uri="{BB962C8B-B14F-4D97-AF65-F5344CB8AC3E}">
        <p14:creationId xmlns:p14="http://schemas.microsoft.com/office/powerpoint/2010/main" val="1187959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A80A0-1287-FFAC-AC5B-6BE401822D14}"/>
              </a:ext>
            </a:extLst>
          </p:cNvPr>
          <p:cNvSpPr>
            <a:spLocks noGrp="1"/>
          </p:cNvSpPr>
          <p:nvPr>
            <p:ph type="title"/>
          </p:nvPr>
        </p:nvSpPr>
        <p:spPr/>
        <p:txBody>
          <a:bodyPr/>
          <a:lstStyle/>
          <a:p>
            <a:r>
              <a:rPr lang="en-IN" b="1" dirty="0"/>
              <a:t>Characteristics of Cache Memory</a:t>
            </a:r>
          </a:p>
        </p:txBody>
      </p:sp>
      <p:sp>
        <p:nvSpPr>
          <p:cNvPr id="3" name="Content Placeholder 2">
            <a:extLst>
              <a:ext uri="{FF2B5EF4-FFF2-40B4-BE49-F238E27FC236}">
                <a16:creationId xmlns:a16="http://schemas.microsoft.com/office/drawing/2014/main" id="{D611566B-FAA0-61D1-9980-CE28EB79471E}"/>
              </a:ext>
            </a:extLst>
          </p:cNvPr>
          <p:cNvSpPr>
            <a:spLocks noGrp="1"/>
          </p:cNvSpPr>
          <p:nvPr>
            <p:ph idx="1"/>
          </p:nvPr>
        </p:nvSpPr>
        <p:spPr/>
        <p:txBody>
          <a:bodyPr/>
          <a:lstStyle/>
          <a:p>
            <a:r>
              <a:rPr lang="en-US" dirty="0"/>
              <a:t>Cache memory is an extremely fast memory type that acts as a buffer between RAM and the CPU.</a:t>
            </a:r>
          </a:p>
          <a:p>
            <a:r>
              <a:rPr lang="en-US" dirty="0"/>
              <a:t> Cache Memory holds frequently requested data and instructions so that they are immediately available to the CPU when needed. </a:t>
            </a:r>
          </a:p>
          <a:p>
            <a:r>
              <a:rPr lang="en-US" dirty="0"/>
              <a:t>Cache memory is costlier than main memory or disk memory but more economical than CPU registers. </a:t>
            </a:r>
          </a:p>
          <a:p>
            <a:r>
              <a:rPr lang="en-US" dirty="0"/>
              <a:t>Cache Memory is used to speed up and synchronize with a high-speed CPU.</a:t>
            </a:r>
            <a:endParaRPr lang="en-IN" dirty="0"/>
          </a:p>
        </p:txBody>
      </p:sp>
    </p:spTree>
    <p:extLst>
      <p:ext uri="{BB962C8B-B14F-4D97-AF65-F5344CB8AC3E}">
        <p14:creationId xmlns:p14="http://schemas.microsoft.com/office/powerpoint/2010/main" val="1792256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49587-2144-5F57-9BC7-89B368D810AB}"/>
              </a:ext>
            </a:extLst>
          </p:cNvPr>
          <p:cNvSpPr>
            <a:spLocks noGrp="1"/>
          </p:cNvSpPr>
          <p:nvPr>
            <p:ph type="title"/>
          </p:nvPr>
        </p:nvSpPr>
        <p:spPr/>
        <p:txBody>
          <a:bodyPr/>
          <a:lstStyle/>
          <a:p>
            <a:r>
              <a:rPr lang="en-IN" b="1" dirty="0"/>
              <a:t>Working of Cache Memory</a:t>
            </a:r>
          </a:p>
        </p:txBody>
      </p:sp>
      <p:sp>
        <p:nvSpPr>
          <p:cNvPr id="3" name="Content Placeholder 2">
            <a:extLst>
              <a:ext uri="{FF2B5EF4-FFF2-40B4-BE49-F238E27FC236}">
                <a16:creationId xmlns:a16="http://schemas.microsoft.com/office/drawing/2014/main" id="{D46BB933-D50D-CE7C-9DFF-15B26690456C}"/>
              </a:ext>
            </a:extLst>
          </p:cNvPr>
          <p:cNvSpPr>
            <a:spLocks noGrp="1"/>
          </p:cNvSpPr>
          <p:nvPr>
            <p:ph idx="1"/>
          </p:nvPr>
        </p:nvSpPr>
        <p:spPr/>
        <p:txBody>
          <a:bodyPr>
            <a:normAutofit fontScale="92500" lnSpcReduction="20000"/>
          </a:bodyPr>
          <a:lstStyle/>
          <a:p>
            <a:r>
              <a:rPr lang="en-US" dirty="0"/>
              <a:t>In order to understand the working of cache we must understand few points: </a:t>
            </a:r>
          </a:p>
          <a:p>
            <a:r>
              <a:rPr lang="en-US" dirty="0"/>
              <a:t>Cache memory is faster, they can be accessed very fast. </a:t>
            </a:r>
          </a:p>
          <a:p>
            <a:r>
              <a:rPr lang="en-US" dirty="0"/>
              <a:t>Cache memory is smaller, a large amount of data cannot be stored.</a:t>
            </a:r>
          </a:p>
          <a:p>
            <a:r>
              <a:rPr lang="en-US" dirty="0"/>
              <a:t> Whenever CPU needs any data it searches for corresponding data in the cache (fast process) if data is found, it processes the data according to instructions, however, if data is not found in the cache CPU search for that data in primary memory(slower process) and loads it into the cache. This ensures frequently accessed data are always found in the cache and hence minimizes the time required to access the data.</a:t>
            </a:r>
            <a:endParaRPr lang="en-IN" dirty="0"/>
          </a:p>
        </p:txBody>
      </p:sp>
    </p:spTree>
    <p:extLst>
      <p:ext uri="{BB962C8B-B14F-4D97-AF65-F5344CB8AC3E}">
        <p14:creationId xmlns:p14="http://schemas.microsoft.com/office/powerpoint/2010/main" val="706324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AF28C-132E-724F-7432-B6BB63499FD3}"/>
              </a:ext>
            </a:extLst>
          </p:cNvPr>
          <p:cNvSpPr>
            <a:spLocks noGrp="1"/>
          </p:cNvSpPr>
          <p:nvPr>
            <p:ph type="title"/>
          </p:nvPr>
        </p:nvSpPr>
        <p:spPr/>
        <p:txBody>
          <a:bodyPr/>
          <a:lstStyle/>
          <a:p>
            <a:r>
              <a:rPr lang="en-IN" b="1" dirty="0"/>
              <a:t>Benefits of Cache Memory</a:t>
            </a:r>
          </a:p>
        </p:txBody>
      </p:sp>
      <p:sp>
        <p:nvSpPr>
          <p:cNvPr id="3" name="Content Placeholder 2">
            <a:extLst>
              <a:ext uri="{FF2B5EF4-FFF2-40B4-BE49-F238E27FC236}">
                <a16:creationId xmlns:a16="http://schemas.microsoft.com/office/drawing/2014/main" id="{9C9DAEE6-3DCA-207A-69E2-A78A36A16DA7}"/>
              </a:ext>
            </a:extLst>
          </p:cNvPr>
          <p:cNvSpPr>
            <a:spLocks noGrp="1"/>
          </p:cNvSpPr>
          <p:nvPr>
            <p:ph idx="1"/>
          </p:nvPr>
        </p:nvSpPr>
        <p:spPr/>
        <p:txBody>
          <a:bodyPr/>
          <a:lstStyle/>
          <a:p>
            <a:r>
              <a:rPr lang="en-US" b="1" dirty="0"/>
              <a:t>Faster access</a:t>
            </a:r>
            <a:r>
              <a:rPr lang="en-US" dirty="0"/>
              <a:t>: Faster than main memory. It resides closer to CPU , typically on same chip or in close proximity. Cache stores subset of data and instruction. </a:t>
            </a:r>
          </a:p>
          <a:p>
            <a:pPr marL="0" indent="0">
              <a:buNone/>
            </a:pPr>
            <a:endParaRPr lang="en-US" dirty="0"/>
          </a:p>
          <a:p>
            <a:r>
              <a:rPr lang="en-US" b="1" dirty="0"/>
              <a:t>Reducing memory latency</a:t>
            </a:r>
            <a:r>
              <a:rPr lang="en-US" dirty="0"/>
              <a:t>: Memory access latency refers to time taken for processes to retrieve data from memory. Caches are designed to exploit principle of locality.</a:t>
            </a:r>
            <a:endParaRPr lang="en-IN" dirty="0"/>
          </a:p>
        </p:txBody>
      </p:sp>
    </p:spTree>
    <p:extLst>
      <p:ext uri="{BB962C8B-B14F-4D97-AF65-F5344CB8AC3E}">
        <p14:creationId xmlns:p14="http://schemas.microsoft.com/office/powerpoint/2010/main" val="1004567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CB36F-D679-772A-6255-2A7837FAC09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4ABCD60-BB12-5BCB-232E-05D73769D2CF}"/>
              </a:ext>
            </a:extLst>
          </p:cNvPr>
          <p:cNvSpPr>
            <a:spLocks noGrp="1"/>
          </p:cNvSpPr>
          <p:nvPr>
            <p:ph idx="1"/>
          </p:nvPr>
        </p:nvSpPr>
        <p:spPr/>
        <p:txBody>
          <a:bodyPr>
            <a:normAutofit lnSpcReduction="10000"/>
          </a:bodyPr>
          <a:lstStyle/>
          <a:p>
            <a:r>
              <a:rPr lang="en-IN" b="1" i="0" dirty="0">
                <a:solidFill>
                  <a:srgbClr val="273239"/>
                </a:solidFill>
                <a:effectLst/>
                <a:highlight>
                  <a:srgbClr val="FFFFFF"/>
                </a:highlight>
                <a:latin typeface="Nunito" pitchFamily="2" charset="0"/>
              </a:rPr>
              <a:t>Lowering bus traffic:</a:t>
            </a:r>
            <a:r>
              <a:rPr lang="en-US" b="1" i="0" dirty="0">
                <a:solidFill>
                  <a:srgbClr val="273239"/>
                </a:solidFill>
                <a:effectLst/>
                <a:highlight>
                  <a:srgbClr val="FFFFFF"/>
                </a:highlight>
                <a:latin typeface="Nunito" pitchFamily="2" charset="0"/>
              </a:rPr>
              <a:t> </a:t>
            </a:r>
            <a:r>
              <a:rPr lang="en-US" i="0" dirty="0">
                <a:solidFill>
                  <a:srgbClr val="273239"/>
                </a:solidFill>
                <a:effectLst/>
                <a:highlight>
                  <a:srgbClr val="FFFFFF"/>
                </a:highlight>
                <a:latin typeface="Nunito" pitchFamily="2" charset="0"/>
              </a:rPr>
              <a:t>Accessing data from main memory involves transferring it over system bus By utilizing cache memory , processor can reduce frequency of accessing main memory resulting in less bus traffic and improves system efficiency. </a:t>
            </a:r>
            <a:endParaRPr lang="en-US" dirty="0">
              <a:solidFill>
                <a:srgbClr val="273239"/>
              </a:solidFill>
              <a:highlight>
                <a:srgbClr val="FFFFFF"/>
              </a:highlight>
              <a:latin typeface="Nunito" pitchFamily="2" charset="0"/>
            </a:endParaRPr>
          </a:p>
          <a:p>
            <a:r>
              <a:rPr lang="en-US" b="1" dirty="0"/>
              <a:t>Increasing effective CPU utilization</a:t>
            </a:r>
            <a:r>
              <a:rPr lang="en-US" dirty="0"/>
              <a:t>: Cache memory allows CPU to operate at a higher effective speed. CPU can spend more time executing instruction rather than waiting for memory access. This leads to better utilization of CPU’s processing capabilities and higher overall system performance. </a:t>
            </a:r>
            <a:endParaRPr lang="en-IN" dirty="0"/>
          </a:p>
        </p:txBody>
      </p:sp>
    </p:spTree>
    <p:extLst>
      <p:ext uri="{BB962C8B-B14F-4D97-AF65-F5344CB8AC3E}">
        <p14:creationId xmlns:p14="http://schemas.microsoft.com/office/powerpoint/2010/main" val="4075636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870DF-FD2B-BFA9-BCCE-75424ECFAEE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EDAA04E-7E27-1C9C-12E5-99FA7ABCA2B0}"/>
              </a:ext>
            </a:extLst>
          </p:cNvPr>
          <p:cNvSpPr>
            <a:spLocks noGrp="1"/>
          </p:cNvSpPr>
          <p:nvPr>
            <p:ph idx="1"/>
          </p:nvPr>
        </p:nvSpPr>
        <p:spPr/>
        <p:txBody>
          <a:bodyPr/>
          <a:lstStyle/>
          <a:p>
            <a:r>
              <a:rPr lang="en-US" b="1" dirty="0"/>
              <a:t>Scalability</a:t>
            </a:r>
            <a:r>
              <a:rPr lang="en-US" dirty="0"/>
              <a:t>: Cache memory helps improve system scalability by reducing impact of memory latency on overall system performance.</a:t>
            </a:r>
            <a:endParaRPr lang="en-IN" dirty="0"/>
          </a:p>
        </p:txBody>
      </p:sp>
    </p:spTree>
    <p:extLst>
      <p:ext uri="{BB962C8B-B14F-4D97-AF65-F5344CB8AC3E}">
        <p14:creationId xmlns:p14="http://schemas.microsoft.com/office/powerpoint/2010/main" val="27684885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B864-804F-4FB7-8610-285F84364238}"/>
              </a:ext>
            </a:extLst>
          </p:cNvPr>
          <p:cNvSpPr>
            <a:spLocks noGrp="1"/>
          </p:cNvSpPr>
          <p:nvPr>
            <p:ph type="title"/>
          </p:nvPr>
        </p:nvSpPr>
        <p:spPr/>
        <p:txBody>
          <a:bodyPr/>
          <a:lstStyle/>
          <a:p>
            <a:r>
              <a:rPr lang="en-US" b="1" dirty="0"/>
              <a:t>Cache Hit and Cache Miss</a:t>
            </a:r>
            <a:endParaRPr lang="en-IN" b="1" dirty="0"/>
          </a:p>
        </p:txBody>
      </p:sp>
      <p:sp>
        <p:nvSpPr>
          <p:cNvPr id="3" name="Content Placeholder 2">
            <a:extLst>
              <a:ext uri="{FF2B5EF4-FFF2-40B4-BE49-F238E27FC236}">
                <a16:creationId xmlns:a16="http://schemas.microsoft.com/office/drawing/2014/main" id="{20E7C666-160A-650B-DC87-368DF78EFD78}"/>
              </a:ext>
            </a:extLst>
          </p:cNvPr>
          <p:cNvSpPr>
            <a:spLocks noGrp="1"/>
          </p:cNvSpPr>
          <p:nvPr>
            <p:ph idx="1"/>
          </p:nvPr>
        </p:nvSpPr>
        <p:spPr/>
        <p:txBody>
          <a:bodyPr/>
          <a:lstStyle/>
          <a:p>
            <a:r>
              <a:rPr lang="en-US" b="1" dirty="0"/>
              <a:t>Cache Hit</a:t>
            </a:r>
            <a:r>
              <a:rPr lang="en-US" dirty="0"/>
              <a:t>: When the CPU finds the required data in the cache memory, allowing for quick access. On searching in the cache if data is found, a cache hit has occurred. </a:t>
            </a:r>
          </a:p>
          <a:p>
            <a:r>
              <a:rPr lang="en-US" b="1" dirty="0"/>
              <a:t>Cache Miss</a:t>
            </a:r>
            <a:r>
              <a:rPr lang="en-US" dirty="0"/>
              <a:t>: When the required data is not found in the cache, forcing the CPU to retrieve it from the slower main memory. On searching in the cache if data is not found, a cache miss has occurred.</a:t>
            </a:r>
          </a:p>
          <a:p>
            <a:r>
              <a:rPr lang="en-US" dirty="0"/>
              <a:t>The performance of cache memory is frequently measured in terms of a quantity called Hit ratio.</a:t>
            </a:r>
            <a:endParaRPr lang="en-IN" dirty="0"/>
          </a:p>
        </p:txBody>
      </p:sp>
    </p:spTree>
    <p:extLst>
      <p:ext uri="{BB962C8B-B14F-4D97-AF65-F5344CB8AC3E}">
        <p14:creationId xmlns:p14="http://schemas.microsoft.com/office/powerpoint/2010/main" val="1606831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B5800-7A94-2C4E-0791-80FF475FCE8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121FB370-076A-71C4-5548-D1CA6B2CCE72}"/>
              </a:ext>
            </a:extLst>
          </p:cNvPr>
          <p:cNvPicPr>
            <a:picLocks noGrp="1" noChangeAspect="1"/>
          </p:cNvPicPr>
          <p:nvPr>
            <p:ph idx="1"/>
          </p:nvPr>
        </p:nvPicPr>
        <p:blipFill>
          <a:blip r:embed="rId2"/>
          <a:stretch>
            <a:fillRect/>
          </a:stretch>
        </p:blipFill>
        <p:spPr>
          <a:xfrm>
            <a:off x="624863" y="2125266"/>
            <a:ext cx="7886700" cy="1505664"/>
          </a:xfrm>
        </p:spPr>
      </p:pic>
      <p:pic>
        <p:nvPicPr>
          <p:cNvPr id="9" name="Picture 8">
            <a:extLst>
              <a:ext uri="{FF2B5EF4-FFF2-40B4-BE49-F238E27FC236}">
                <a16:creationId xmlns:a16="http://schemas.microsoft.com/office/drawing/2014/main" id="{AADB6977-1A76-D824-7D64-A5890968CD99}"/>
              </a:ext>
            </a:extLst>
          </p:cNvPr>
          <p:cNvPicPr>
            <a:picLocks noChangeAspect="1"/>
          </p:cNvPicPr>
          <p:nvPr/>
        </p:nvPicPr>
        <p:blipFill>
          <a:blip r:embed="rId3"/>
          <a:stretch>
            <a:fillRect/>
          </a:stretch>
        </p:blipFill>
        <p:spPr>
          <a:xfrm>
            <a:off x="621075" y="3630930"/>
            <a:ext cx="7886700" cy="1417320"/>
          </a:xfrm>
          <a:prstGeom prst="rect">
            <a:avLst/>
          </a:prstGeom>
        </p:spPr>
      </p:pic>
    </p:spTree>
    <p:extLst>
      <p:ext uri="{BB962C8B-B14F-4D97-AF65-F5344CB8AC3E}">
        <p14:creationId xmlns:p14="http://schemas.microsoft.com/office/powerpoint/2010/main" val="416519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D3B1C-101D-A906-FD9F-E728609B8A59}"/>
              </a:ext>
            </a:extLst>
          </p:cNvPr>
          <p:cNvSpPr>
            <a:spLocks noGrp="1"/>
          </p:cNvSpPr>
          <p:nvPr>
            <p:ph type="title"/>
          </p:nvPr>
        </p:nvSpPr>
        <p:spPr/>
        <p:txBody>
          <a:bodyPr/>
          <a:lstStyle/>
          <a:p>
            <a:r>
              <a:rPr lang="en-IN" b="1" i="0" dirty="0">
                <a:solidFill>
                  <a:srgbClr val="273239"/>
                </a:solidFill>
                <a:effectLst/>
                <a:highlight>
                  <a:srgbClr val="FFFFFF"/>
                </a:highlight>
                <a:latin typeface="Nunito" pitchFamily="2" charset="0"/>
              </a:rPr>
              <a:t>Types of Cache Memory</a:t>
            </a:r>
            <a:br>
              <a:rPr lang="en-IN"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293EA8B6-9F3A-AEC5-2147-907EAC914AC3}"/>
              </a:ext>
            </a:extLst>
          </p:cNvPr>
          <p:cNvSpPr>
            <a:spLocks noGrp="1"/>
          </p:cNvSpPr>
          <p:nvPr>
            <p:ph idx="1"/>
          </p:nvPr>
        </p:nvSpPr>
        <p:spPr/>
        <p:txBody>
          <a:bodyPr/>
          <a:lstStyle/>
          <a:p>
            <a:r>
              <a:rPr lang="en-US" b="1" i="0" dirty="0">
                <a:solidFill>
                  <a:srgbClr val="273239"/>
                </a:solidFill>
                <a:effectLst/>
                <a:highlight>
                  <a:srgbClr val="FFFFFF"/>
                </a:highlight>
                <a:latin typeface="Nunito" pitchFamily="2" charset="0"/>
              </a:rPr>
              <a:t>L1 or Level 1 Cache: </a:t>
            </a:r>
          </a:p>
          <a:p>
            <a:r>
              <a:rPr lang="en-US" b="0" i="0" dirty="0">
                <a:solidFill>
                  <a:srgbClr val="273239"/>
                </a:solidFill>
                <a:effectLst/>
                <a:highlight>
                  <a:srgbClr val="FFFFFF"/>
                </a:highlight>
                <a:latin typeface="Nunito" pitchFamily="2" charset="0"/>
              </a:rPr>
              <a:t>It is the first level of cache memory that is present inside the processor. </a:t>
            </a:r>
          </a:p>
          <a:p>
            <a:r>
              <a:rPr lang="en-US" b="0" i="0" dirty="0">
                <a:solidFill>
                  <a:srgbClr val="273239"/>
                </a:solidFill>
                <a:effectLst/>
                <a:highlight>
                  <a:srgbClr val="FFFFFF"/>
                </a:highlight>
                <a:latin typeface="Nunito" pitchFamily="2" charset="0"/>
              </a:rPr>
              <a:t>It is present in a small amount inside every core of the processor separately. </a:t>
            </a:r>
          </a:p>
          <a:p>
            <a:r>
              <a:rPr lang="en-US" b="0" i="0" dirty="0">
                <a:solidFill>
                  <a:srgbClr val="273239"/>
                </a:solidFill>
                <a:effectLst/>
                <a:highlight>
                  <a:srgbClr val="FFFFFF"/>
                </a:highlight>
                <a:latin typeface="Nunito" pitchFamily="2" charset="0"/>
              </a:rPr>
              <a:t>The size of this memory ranges from 2KB to 64 KB</a:t>
            </a:r>
            <a:endParaRPr lang="en-IN" dirty="0"/>
          </a:p>
        </p:txBody>
      </p:sp>
    </p:spTree>
    <p:extLst>
      <p:ext uri="{BB962C8B-B14F-4D97-AF65-F5344CB8AC3E}">
        <p14:creationId xmlns:p14="http://schemas.microsoft.com/office/powerpoint/2010/main" val="6160501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90AE-DC80-5D51-E6CF-0E4BDE94DCC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CDB52F2-45F7-B2B9-39C6-46DF1DF39730}"/>
              </a:ext>
            </a:extLst>
          </p:cNvPr>
          <p:cNvSpPr>
            <a:spLocks noGrp="1"/>
          </p:cNvSpPr>
          <p:nvPr>
            <p:ph idx="1"/>
          </p:nvPr>
        </p:nvSpPr>
        <p:spPr/>
        <p:txBody>
          <a:bodyPr/>
          <a:lstStyle/>
          <a:p>
            <a:r>
              <a:rPr lang="en-US" b="1" dirty="0"/>
              <a:t>L2 or Level 2 Cache: </a:t>
            </a:r>
          </a:p>
          <a:p>
            <a:r>
              <a:rPr lang="en-US" dirty="0"/>
              <a:t>It is the second level of cache memory that may present inside or outside the CPU. </a:t>
            </a:r>
          </a:p>
          <a:p>
            <a:r>
              <a:rPr lang="en-US" dirty="0"/>
              <a:t>If not present inside the core, It can be shared between two cores depending upon the architecture and is connected to a processor with the high-speed bus. </a:t>
            </a:r>
          </a:p>
          <a:p>
            <a:r>
              <a:rPr lang="en-US" dirty="0"/>
              <a:t>The size of memory ranges from 256 KB to 512 KB.</a:t>
            </a:r>
            <a:endParaRPr lang="en-IN" dirty="0"/>
          </a:p>
        </p:txBody>
      </p:sp>
    </p:spTree>
    <p:extLst>
      <p:ext uri="{BB962C8B-B14F-4D97-AF65-F5344CB8AC3E}">
        <p14:creationId xmlns:p14="http://schemas.microsoft.com/office/powerpoint/2010/main" val="3281379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0938-339A-207C-1F6E-0969FDE8128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DDFAB7BD-7C00-706D-C8AC-FAFE444364EC}"/>
              </a:ext>
            </a:extLst>
          </p:cNvPr>
          <p:cNvSpPr>
            <a:spLocks noGrp="1"/>
          </p:cNvSpPr>
          <p:nvPr>
            <p:ph idx="1"/>
          </p:nvPr>
        </p:nvSpPr>
        <p:spPr/>
        <p:txBody>
          <a:bodyPr/>
          <a:lstStyle/>
          <a:p>
            <a:r>
              <a:rPr lang="en-US" b="1" i="0" dirty="0">
                <a:solidFill>
                  <a:srgbClr val="273239"/>
                </a:solidFill>
                <a:effectLst/>
                <a:highlight>
                  <a:srgbClr val="FFFFFF"/>
                </a:highlight>
                <a:latin typeface="Nunito" pitchFamily="2" charset="0"/>
              </a:rPr>
              <a:t>L3 or Level 3 Cache: </a:t>
            </a:r>
          </a:p>
          <a:p>
            <a:r>
              <a:rPr lang="en-US" b="0" i="0" dirty="0">
                <a:solidFill>
                  <a:srgbClr val="273239"/>
                </a:solidFill>
                <a:effectLst/>
                <a:highlight>
                  <a:srgbClr val="FFFFFF"/>
                </a:highlight>
                <a:latin typeface="Nunito" pitchFamily="2" charset="0"/>
              </a:rPr>
              <a:t>It is the third level of cache memory that is present outside the CPU and is shared by all the cores of the CPU. </a:t>
            </a:r>
          </a:p>
          <a:p>
            <a:r>
              <a:rPr lang="en-US" b="0" i="0" dirty="0">
                <a:solidFill>
                  <a:srgbClr val="273239"/>
                </a:solidFill>
                <a:effectLst/>
                <a:highlight>
                  <a:srgbClr val="FFFFFF"/>
                </a:highlight>
                <a:latin typeface="Nunito" pitchFamily="2" charset="0"/>
              </a:rPr>
              <a:t>Some high processors may have this cache</a:t>
            </a:r>
          </a:p>
          <a:p>
            <a:r>
              <a:rPr lang="en-US" b="0" i="0" dirty="0">
                <a:solidFill>
                  <a:srgbClr val="273239"/>
                </a:solidFill>
                <a:effectLst/>
                <a:highlight>
                  <a:srgbClr val="FFFFFF"/>
                </a:highlight>
                <a:latin typeface="Nunito" pitchFamily="2" charset="0"/>
              </a:rPr>
              <a:t>. This cache is used to increase the performance of the L2 and L1 cache.</a:t>
            </a:r>
          </a:p>
          <a:p>
            <a:r>
              <a:rPr lang="en-US" b="0" i="0" dirty="0">
                <a:solidFill>
                  <a:srgbClr val="273239"/>
                </a:solidFill>
                <a:effectLst/>
                <a:highlight>
                  <a:srgbClr val="FFFFFF"/>
                </a:highlight>
                <a:latin typeface="Nunito" pitchFamily="2" charset="0"/>
              </a:rPr>
              <a:t> The size of this memory ranges from 1 MB to 8MB.</a:t>
            </a:r>
          </a:p>
          <a:p>
            <a:endParaRPr lang="en-IN" dirty="0"/>
          </a:p>
          <a:p>
            <a:endParaRPr lang="en-IN" dirty="0"/>
          </a:p>
        </p:txBody>
      </p:sp>
    </p:spTree>
    <p:extLst>
      <p:ext uri="{BB962C8B-B14F-4D97-AF65-F5344CB8AC3E}">
        <p14:creationId xmlns:p14="http://schemas.microsoft.com/office/powerpoint/2010/main" val="1283418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EE269-0D83-7AFB-5A6C-FF8FEB4B8CBA}"/>
              </a:ext>
            </a:extLst>
          </p:cNvPr>
          <p:cNvSpPr>
            <a:spLocks noGrp="1"/>
          </p:cNvSpPr>
          <p:nvPr>
            <p:ph type="title"/>
          </p:nvPr>
        </p:nvSpPr>
        <p:spPr/>
        <p:txBody>
          <a:bodyPr/>
          <a:lstStyle/>
          <a:p>
            <a:r>
              <a:rPr lang="en-US" b="1" dirty="0"/>
              <a:t>Locality Of Reference</a:t>
            </a:r>
            <a:endParaRPr lang="en-IN" b="1" dirty="0"/>
          </a:p>
        </p:txBody>
      </p:sp>
      <p:sp>
        <p:nvSpPr>
          <p:cNvPr id="3" name="Content Placeholder 2">
            <a:extLst>
              <a:ext uri="{FF2B5EF4-FFF2-40B4-BE49-F238E27FC236}">
                <a16:creationId xmlns:a16="http://schemas.microsoft.com/office/drawing/2014/main" id="{A3A4AF57-DB6A-610C-4807-2D49608A9923}"/>
              </a:ext>
            </a:extLst>
          </p:cNvPr>
          <p:cNvSpPr>
            <a:spLocks noGrp="1"/>
          </p:cNvSpPr>
          <p:nvPr>
            <p:ph idx="1"/>
          </p:nvPr>
        </p:nvSpPr>
        <p:spPr/>
        <p:txBody>
          <a:bodyPr/>
          <a:lstStyle/>
          <a:p>
            <a:r>
              <a:rPr lang="en-US" dirty="0"/>
              <a:t> It is a phenomenon in which a computer program tends to access same set of memory locations for a particular time period. </a:t>
            </a:r>
          </a:p>
          <a:p>
            <a:r>
              <a:rPr lang="en-US" dirty="0"/>
              <a:t>In other words, Locality of Reference refers to the tendency of the computer program to access instructions whose addresses are near one another. </a:t>
            </a:r>
          </a:p>
          <a:p>
            <a:r>
              <a:rPr lang="en-US" dirty="0"/>
              <a:t>The property of locality of reference is mainly shown by loops and subroutine calls in a program.</a:t>
            </a:r>
            <a:endParaRPr lang="en-IN" dirty="0"/>
          </a:p>
        </p:txBody>
      </p:sp>
    </p:spTree>
    <p:extLst>
      <p:ext uri="{BB962C8B-B14F-4D97-AF65-F5344CB8AC3E}">
        <p14:creationId xmlns:p14="http://schemas.microsoft.com/office/powerpoint/2010/main" val="3113248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a:extLst>
              <a:ext uri="{FF2B5EF4-FFF2-40B4-BE49-F238E27FC236}">
                <a16:creationId xmlns:a16="http://schemas.microsoft.com/office/drawing/2014/main" id="{E2A17820-01BE-7128-CBE7-F9E31EF24C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285" y="1708304"/>
            <a:ext cx="7700790" cy="3544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167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FD10-C342-24E3-5994-531561DBC0E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CE18EC4-B35D-7CB3-D8BA-E980135B8955}"/>
              </a:ext>
            </a:extLst>
          </p:cNvPr>
          <p:cNvSpPr>
            <a:spLocks noGrp="1"/>
          </p:cNvSpPr>
          <p:nvPr>
            <p:ph idx="1"/>
          </p:nvPr>
        </p:nvSpPr>
        <p:spPr/>
        <p:txBody>
          <a:bodyPr/>
          <a:lstStyle/>
          <a:p>
            <a:r>
              <a:rPr lang="en-US" dirty="0"/>
              <a:t>It is based on the principle of locality of reference. </a:t>
            </a:r>
          </a:p>
          <a:p>
            <a:r>
              <a:rPr lang="en-US" dirty="0"/>
              <a:t>There are two ways with which data or instruction is fetched from main memory and get stored in cache memory. These two ways are the following:</a:t>
            </a:r>
          </a:p>
          <a:p>
            <a:r>
              <a:rPr lang="en-US" dirty="0"/>
              <a:t>1. Temporal locality</a:t>
            </a:r>
          </a:p>
          <a:p>
            <a:r>
              <a:rPr lang="en-US" dirty="0"/>
              <a:t>2. Spatial locality</a:t>
            </a:r>
            <a:endParaRPr lang="en-IN" dirty="0"/>
          </a:p>
        </p:txBody>
      </p:sp>
    </p:spTree>
    <p:extLst>
      <p:ext uri="{BB962C8B-B14F-4D97-AF65-F5344CB8AC3E}">
        <p14:creationId xmlns:p14="http://schemas.microsoft.com/office/powerpoint/2010/main" val="3040413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667AA-5C6D-358A-DB5A-A9FFAB09ADA1}"/>
              </a:ext>
            </a:extLst>
          </p:cNvPr>
          <p:cNvSpPr>
            <a:spLocks noGrp="1"/>
          </p:cNvSpPr>
          <p:nvPr>
            <p:ph type="title"/>
          </p:nvPr>
        </p:nvSpPr>
        <p:spPr/>
        <p:txBody>
          <a:bodyPr/>
          <a:lstStyle/>
          <a:p>
            <a:r>
              <a:rPr lang="en-US" b="1" dirty="0"/>
              <a:t>Temporal locality</a:t>
            </a:r>
            <a:endParaRPr lang="en-IN" b="1" dirty="0"/>
          </a:p>
        </p:txBody>
      </p:sp>
      <p:sp>
        <p:nvSpPr>
          <p:cNvPr id="3" name="Content Placeholder 2">
            <a:extLst>
              <a:ext uri="{FF2B5EF4-FFF2-40B4-BE49-F238E27FC236}">
                <a16:creationId xmlns:a16="http://schemas.microsoft.com/office/drawing/2014/main" id="{5AE88CAF-3942-B831-6EC0-E83210BEECC5}"/>
              </a:ext>
            </a:extLst>
          </p:cNvPr>
          <p:cNvSpPr>
            <a:spLocks noGrp="1"/>
          </p:cNvSpPr>
          <p:nvPr>
            <p:ph idx="1"/>
          </p:nvPr>
        </p:nvSpPr>
        <p:spPr/>
        <p:txBody>
          <a:bodyPr/>
          <a:lstStyle/>
          <a:p>
            <a:r>
              <a:rPr lang="en-US" dirty="0"/>
              <a:t>Temporal locality means current data or instruction that is being fetched may be needed soon. </a:t>
            </a:r>
          </a:p>
          <a:p>
            <a:r>
              <a:rPr lang="en-US" dirty="0"/>
              <a:t>It refers to reuse of specific data/ resources within a short period of time.</a:t>
            </a:r>
          </a:p>
          <a:p>
            <a:r>
              <a:rPr lang="en-US" dirty="0"/>
              <a:t>So we should store that data or instruction in the cache memory so that we can avoid again searching in main memory for the same data.</a:t>
            </a:r>
          </a:p>
          <a:p>
            <a:r>
              <a:rPr lang="en-US" dirty="0"/>
              <a:t>Ex: Loop.</a:t>
            </a:r>
            <a:endParaRPr lang="en-IN" dirty="0"/>
          </a:p>
        </p:txBody>
      </p:sp>
    </p:spTree>
    <p:extLst>
      <p:ext uri="{BB962C8B-B14F-4D97-AF65-F5344CB8AC3E}">
        <p14:creationId xmlns:p14="http://schemas.microsoft.com/office/powerpoint/2010/main" val="1903492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id="{FB45B86C-0015-C973-9CAB-2D394D7C4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649" y="1353009"/>
            <a:ext cx="7295921" cy="4263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908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B9406-DEAF-9888-A7BC-A0D15F825C73}"/>
              </a:ext>
            </a:extLst>
          </p:cNvPr>
          <p:cNvSpPr>
            <a:spLocks noGrp="1"/>
          </p:cNvSpPr>
          <p:nvPr>
            <p:ph type="title"/>
          </p:nvPr>
        </p:nvSpPr>
        <p:spPr/>
        <p:txBody>
          <a:bodyPr/>
          <a:lstStyle/>
          <a:p>
            <a:r>
              <a:rPr lang="en-US" b="1" dirty="0"/>
              <a:t>Spatial locality</a:t>
            </a:r>
            <a:endParaRPr lang="en-IN" b="1" dirty="0"/>
          </a:p>
        </p:txBody>
      </p:sp>
      <p:sp>
        <p:nvSpPr>
          <p:cNvPr id="3" name="Content Placeholder 2">
            <a:extLst>
              <a:ext uri="{FF2B5EF4-FFF2-40B4-BE49-F238E27FC236}">
                <a16:creationId xmlns:a16="http://schemas.microsoft.com/office/drawing/2014/main" id="{2D47238A-2A5E-FCFB-FCAD-2FE26EBD54D5}"/>
              </a:ext>
            </a:extLst>
          </p:cNvPr>
          <p:cNvSpPr>
            <a:spLocks noGrp="1"/>
          </p:cNvSpPr>
          <p:nvPr>
            <p:ph idx="1"/>
          </p:nvPr>
        </p:nvSpPr>
        <p:spPr/>
        <p:txBody>
          <a:bodyPr/>
          <a:lstStyle/>
          <a:p>
            <a:r>
              <a:rPr lang="en-US" dirty="0"/>
              <a:t>Spatial locality means instruction or data near to the current memory location that is being fetched, may be needed soon in the near future.</a:t>
            </a:r>
          </a:p>
          <a:p>
            <a:r>
              <a:rPr lang="en-US" dirty="0"/>
              <a:t>It refers to the use of data elements within relatively close storage location.</a:t>
            </a:r>
          </a:p>
          <a:p>
            <a:r>
              <a:rPr lang="en-US" dirty="0"/>
              <a:t> This is slightly different from the temporal locality. Here we are talking about </a:t>
            </a:r>
            <a:r>
              <a:rPr lang="en-US" b="1" dirty="0"/>
              <a:t>nearly located memory </a:t>
            </a:r>
            <a:r>
              <a:rPr lang="en-US" dirty="0"/>
              <a:t>locations while in temporal locality we were talking about the actual memory location that was being fetched.</a:t>
            </a:r>
            <a:endParaRPr lang="en-IN" dirty="0"/>
          </a:p>
        </p:txBody>
      </p:sp>
    </p:spTree>
    <p:extLst>
      <p:ext uri="{BB962C8B-B14F-4D97-AF65-F5344CB8AC3E}">
        <p14:creationId xmlns:p14="http://schemas.microsoft.com/office/powerpoint/2010/main" val="1244594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ightbox">
            <a:extLst>
              <a:ext uri="{FF2B5EF4-FFF2-40B4-BE49-F238E27FC236}">
                <a16:creationId xmlns:a16="http://schemas.microsoft.com/office/drawing/2014/main" id="{20D13183-B2D8-B673-2D85-D35E47213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00040"/>
            <a:ext cx="7271132" cy="3718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5105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61C2-B51D-809E-4CD2-517AA0B5513C}"/>
              </a:ext>
            </a:extLst>
          </p:cNvPr>
          <p:cNvSpPr>
            <a:spLocks noGrp="1"/>
          </p:cNvSpPr>
          <p:nvPr>
            <p:ph type="title"/>
          </p:nvPr>
        </p:nvSpPr>
        <p:spPr/>
        <p:txBody>
          <a:bodyPr/>
          <a:lstStyle/>
          <a:p>
            <a:r>
              <a:rPr lang="en-IN" b="1" dirty="0"/>
              <a:t>Cache performance measurement</a:t>
            </a:r>
          </a:p>
        </p:txBody>
      </p:sp>
      <p:sp>
        <p:nvSpPr>
          <p:cNvPr id="3" name="Content Placeholder 2">
            <a:extLst>
              <a:ext uri="{FF2B5EF4-FFF2-40B4-BE49-F238E27FC236}">
                <a16:creationId xmlns:a16="http://schemas.microsoft.com/office/drawing/2014/main" id="{A491AE48-48DE-83C4-E78B-B392399836FA}"/>
              </a:ext>
            </a:extLst>
          </p:cNvPr>
          <p:cNvSpPr>
            <a:spLocks noGrp="1"/>
          </p:cNvSpPr>
          <p:nvPr>
            <p:ph idx="1"/>
          </p:nvPr>
        </p:nvSpPr>
        <p:spPr/>
        <p:txBody>
          <a:bodyPr/>
          <a:lstStyle/>
          <a:p>
            <a:r>
              <a:rPr lang="en-US" b="1" dirty="0"/>
              <a:t>Hit time</a:t>
            </a:r>
            <a:r>
              <a:rPr lang="en-US" dirty="0"/>
              <a:t>—the time it takes to access a memory location in the cache.</a:t>
            </a:r>
          </a:p>
          <a:p>
            <a:r>
              <a:rPr lang="en-US" b="1" dirty="0"/>
              <a:t>Miss penalty</a:t>
            </a:r>
            <a:r>
              <a:rPr lang="en-US" dirty="0"/>
              <a:t>— A cache miss penalty refers to the delay caused by a cache miss. </a:t>
            </a:r>
          </a:p>
          <a:p>
            <a:r>
              <a:rPr lang="en-US" dirty="0"/>
              <a:t>It indicates the extra time a cache spends to fetch data from its memory.</a:t>
            </a:r>
            <a:endParaRPr lang="en-IN" dirty="0"/>
          </a:p>
        </p:txBody>
      </p:sp>
    </p:spTree>
    <p:extLst>
      <p:ext uri="{BB962C8B-B14F-4D97-AF65-F5344CB8AC3E}">
        <p14:creationId xmlns:p14="http://schemas.microsoft.com/office/powerpoint/2010/main" val="19902348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BBBE6-E322-83FF-5F7E-93123451C93C}"/>
              </a:ext>
            </a:extLst>
          </p:cNvPr>
          <p:cNvSpPr>
            <a:spLocks noGrp="1"/>
          </p:cNvSpPr>
          <p:nvPr>
            <p:ph type="title"/>
          </p:nvPr>
        </p:nvSpPr>
        <p:spPr/>
        <p:txBody>
          <a:bodyPr/>
          <a:lstStyle/>
          <a:p>
            <a:r>
              <a:rPr lang="en-US" b="1" dirty="0"/>
              <a:t>Methods to reduce Hit Time</a:t>
            </a:r>
            <a:endParaRPr lang="en-IN" b="1" dirty="0"/>
          </a:p>
        </p:txBody>
      </p:sp>
      <p:sp>
        <p:nvSpPr>
          <p:cNvPr id="3" name="Content Placeholder 2">
            <a:extLst>
              <a:ext uri="{FF2B5EF4-FFF2-40B4-BE49-F238E27FC236}">
                <a16:creationId xmlns:a16="http://schemas.microsoft.com/office/drawing/2014/main" id="{55B7AE1C-1A0A-8EAC-00FE-C83FC978151B}"/>
              </a:ext>
            </a:extLst>
          </p:cNvPr>
          <p:cNvSpPr>
            <a:spLocks noGrp="1"/>
          </p:cNvSpPr>
          <p:nvPr>
            <p:ph idx="1"/>
          </p:nvPr>
        </p:nvSpPr>
        <p:spPr/>
        <p:txBody>
          <a:bodyPr>
            <a:normAutofit fontScale="92500"/>
          </a:bodyPr>
          <a:lstStyle/>
          <a:p>
            <a:r>
              <a:rPr lang="en-US" dirty="0"/>
              <a:t>1</a:t>
            </a:r>
            <a:r>
              <a:rPr lang="en-US" b="1" dirty="0"/>
              <a:t>. Small and simple caches</a:t>
            </a:r>
            <a:r>
              <a:rPr lang="en-US" dirty="0"/>
              <a:t>: If lesser hardware is required for the implementation of caches, then it decreases the Hit time because of the shorter critical path through the Hardware.</a:t>
            </a:r>
          </a:p>
          <a:p>
            <a:pPr marL="0" indent="0">
              <a:buNone/>
            </a:pPr>
            <a:r>
              <a:rPr lang="en-US" dirty="0"/>
              <a:t> </a:t>
            </a:r>
          </a:p>
          <a:p>
            <a:r>
              <a:rPr lang="en-US" dirty="0"/>
              <a:t>2. </a:t>
            </a:r>
            <a:r>
              <a:rPr lang="en-US" b="1" dirty="0"/>
              <a:t>Avoid Address translation during indexing</a:t>
            </a:r>
            <a:r>
              <a:rPr lang="en-US" dirty="0"/>
              <a:t>: Caches that use physical addresses for indexing are known as a physical cache. Caches that use the virtual addresses for indexing are known as virtual cache. Address translation can be avoided by using virtual caches. Hence, they help in reducing the hit time.</a:t>
            </a:r>
            <a:endParaRPr lang="en-IN" dirty="0"/>
          </a:p>
        </p:txBody>
      </p:sp>
    </p:spTree>
    <p:extLst>
      <p:ext uri="{BB962C8B-B14F-4D97-AF65-F5344CB8AC3E}">
        <p14:creationId xmlns:p14="http://schemas.microsoft.com/office/powerpoint/2010/main" val="25525381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F6A8C-B75B-F437-2ABF-ED90E13E22C8}"/>
              </a:ext>
            </a:extLst>
          </p:cNvPr>
          <p:cNvSpPr>
            <a:spLocks noGrp="1"/>
          </p:cNvSpPr>
          <p:nvPr>
            <p:ph type="title"/>
          </p:nvPr>
        </p:nvSpPr>
        <p:spPr/>
        <p:txBody>
          <a:bodyPr/>
          <a:lstStyle/>
          <a:p>
            <a:r>
              <a:rPr lang="en-US" b="1" dirty="0"/>
              <a:t>Methods to reduce Miss Rate</a:t>
            </a:r>
            <a:r>
              <a:rPr lang="en-US" dirty="0"/>
              <a:t>:</a:t>
            </a:r>
            <a:endParaRPr lang="en-IN" dirty="0"/>
          </a:p>
        </p:txBody>
      </p:sp>
      <p:sp>
        <p:nvSpPr>
          <p:cNvPr id="3" name="Content Placeholder 2">
            <a:extLst>
              <a:ext uri="{FF2B5EF4-FFF2-40B4-BE49-F238E27FC236}">
                <a16:creationId xmlns:a16="http://schemas.microsoft.com/office/drawing/2014/main" id="{5EF3C193-E9B4-5313-BC86-15E746B23DFA}"/>
              </a:ext>
            </a:extLst>
          </p:cNvPr>
          <p:cNvSpPr>
            <a:spLocks noGrp="1"/>
          </p:cNvSpPr>
          <p:nvPr>
            <p:ph idx="1"/>
          </p:nvPr>
        </p:nvSpPr>
        <p:spPr/>
        <p:txBody>
          <a:bodyPr>
            <a:normAutofit fontScale="92500" lnSpcReduction="10000"/>
          </a:bodyPr>
          <a:lstStyle/>
          <a:p>
            <a:r>
              <a:rPr lang="en-US" b="1" dirty="0"/>
              <a:t>Larger block size</a:t>
            </a:r>
            <a:r>
              <a:rPr lang="en-US" dirty="0"/>
              <a:t>:  If the block size is increased, spatial locality can be exploited in an efficient way which results in a reduction of miss rates.</a:t>
            </a:r>
          </a:p>
          <a:p>
            <a:endParaRPr lang="en-US" dirty="0"/>
          </a:p>
          <a:p>
            <a:r>
              <a:rPr lang="en-US" b="1" dirty="0"/>
              <a:t>Larger cache size</a:t>
            </a:r>
            <a:r>
              <a:rPr lang="en-US" dirty="0"/>
              <a:t>: Increasing the cache size results in a decrease of capacity misses, thereby decreasing the miss rate. But, they increase the hit time and power consumption.</a:t>
            </a:r>
          </a:p>
          <a:p>
            <a:pPr marL="0" indent="0">
              <a:buNone/>
            </a:pPr>
            <a:endParaRPr lang="en-US" dirty="0"/>
          </a:p>
          <a:p>
            <a:pPr marL="0" indent="0">
              <a:buNone/>
            </a:pPr>
            <a:r>
              <a:rPr lang="en-US" dirty="0"/>
              <a:t>These are the basic methods through which the performance of cache can be optimized</a:t>
            </a:r>
            <a:endParaRPr lang="en-IN" dirty="0"/>
          </a:p>
        </p:txBody>
      </p:sp>
    </p:spTree>
    <p:extLst>
      <p:ext uri="{BB962C8B-B14F-4D97-AF65-F5344CB8AC3E}">
        <p14:creationId xmlns:p14="http://schemas.microsoft.com/office/powerpoint/2010/main" val="35142413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1541-35BC-5CD2-A7F1-2A23ABE2BD02}"/>
              </a:ext>
            </a:extLst>
          </p:cNvPr>
          <p:cNvSpPr>
            <a:spLocks noGrp="1"/>
          </p:cNvSpPr>
          <p:nvPr>
            <p:ph type="title"/>
          </p:nvPr>
        </p:nvSpPr>
        <p:spPr/>
        <p:txBody>
          <a:bodyPr/>
          <a:lstStyle/>
          <a:p>
            <a:r>
              <a:rPr lang="en-US" b="1" dirty="0"/>
              <a:t>Average Memory Access Time(AMAT)</a:t>
            </a:r>
            <a:endParaRPr lang="en-IN" b="1" dirty="0"/>
          </a:p>
        </p:txBody>
      </p:sp>
      <p:sp>
        <p:nvSpPr>
          <p:cNvPr id="3" name="Content Placeholder 2">
            <a:extLst>
              <a:ext uri="{FF2B5EF4-FFF2-40B4-BE49-F238E27FC236}">
                <a16:creationId xmlns:a16="http://schemas.microsoft.com/office/drawing/2014/main" id="{FCB1BF84-196A-E98C-933D-BAA77566AE35}"/>
              </a:ext>
            </a:extLst>
          </p:cNvPr>
          <p:cNvSpPr>
            <a:spLocks noGrp="1"/>
          </p:cNvSpPr>
          <p:nvPr>
            <p:ph idx="1"/>
          </p:nvPr>
        </p:nvSpPr>
        <p:spPr/>
        <p:txBody>
          <a:bodyPr/>
          <a:lstStyle/>
          <a:p>
            <a:r>
              <a:rPr lang="en-US" dirty="0"/>
              <a:t>AMAT helps in analyzing the cache memory and its performance. </a:t>
            </a:r>
          </a:p>
          <a:p>
            <a:r>
              <a:rPr lang="en-US" dirty="0"/>
              <a:t>The lesser the AMAT, the better the performance is. </a:t>
            </a:r>
          </a:p>
          <a:p>
            <a:r>
              <a:rPr lang="en-US" dirty="0"/>
              <a:t>AMAT can be calculated as:</a:t>
            </a:r>
          </a:p>
          <a:p>
            <a:endParaRPr lang="en-US" dirty="0"/>
          </a:p>
        </p:txBody>
      </p:sp>
      <p:pic>
        <p:nvPicPr>
          <p:cNvPr id="5" name="Picture 4">
            <a:extLst>
              <a:ext uri="{FF2B5EF4-FFF2-40B4-BE49-F238E27FC236}">
                <a16:creationId xmlns:a16="http://schemas.microsoft.com/office/drawing/2014/main" id="{25C67FB5-65C2-A4B9-E046-FF84A78F9BEB}"/>
              </a:ext>
            </a:extLst>
          </p:cNvPr>
          <p:cNvPicPr>
            <a:picLocks noChangeAspect="1"/>
          </p:cNvPicPr>
          <p:nvPr/>
        </p:nvPicPr>
        <p:blipFill>
          <a:blip r:embed="rId2"/>
          <a:stretch>
            <a:fillRect/>
          </a:stretch>
        </p:blipFill>
        <p:spPr>
          <a:xfrm>
            <a:off x="765966" y="3331028"/>
            <a:ext cx="7749384" cy="3242491"/>
          </a:xfrm>
          <a:prstGeom prst="rect">
            <a:avLst/>
          </a:prstGeom>
        </p:spPr>
      </p:pic>
    </p:spTree>
    <p:extLst>
      <p:ext uri="{BB962C8B-B14F-4D97-AF65-F5344CB8AC3E}">
        <p14:creationId xmlns:p14="http://schemas.microsoft.com/office/powerpoint/2010/main" val="38115309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63EA19-2A0E-0106-983F-E15ECF4A0DB0}"/>
              </a:ext>
            </a:extLst>
          </p:cNvPr>
          <p:cNvPicPr>
            <a:picLocks noChangeAspect="1"/>
          </p:cNvPicPr>
          <p:nvPr/>
        </p:nvPicPr>
        <p:blipFill>
          <a:blip r:embed="rId2"/>
          <a:stretch>
            <a:fillRect/>
          </a:stretch>
        </p:blipFill>
        <p:spPr>
          <a:xfrm>
            <a:off x="203200" y="822960"/>
            <a:ext cx="8371840" cy="5293360"/>
          </a:xfrm>
          <a:prstGeom prst="rect">
            <a:avLst/>
          </a:prstGeom>
        </p:spPr>
      </p:pic>
    </p:spTree>
    <p:extLst>
      <p:ext uri="{BB962C8B-B14F-4D97-AF65-F5344CB8AC3E}">
        <p14:creationId xmlns:p14="http://schemas.microsoft.com/office/powerpoint/2010/main" val="21349417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3B7D59-43F9-3628-392E-F010B5011151}"/>
              </a:ext>
            </a:extLst>
          </p:cNvPr>
          <p:cNvPicPr>
            <a:picLocks noChangeAspect="1"/>
          </p:cNvPicPr>
          <p:nvPr/>
        </p:nvPicPr>
        <p:blipFill>
          <a:blip r:embed="rId3"/>
          <a:stretch>
            <a:fillRect/>
          </a:stretch>
        </p:blipFill>
        <p:spPr>
          <a:xfrm>
            <a:off x="473528" y="1298122"/>
            <a:ext cx="8131629" cy="4384221"/>
          </a:xfrm>
          <a:prstGeom prst="rect">
            <a:avLst/>
          </a:prstGeom>
        </p:spPr>
      </p:pic>
    </p:spTree>
    <p:extLst>
      <p:ext uri="{BB962C8B-B14F-4D97-AF65-F5344CB8AC3E}">
        <p14:creationId xmlns:p14="http://schemas.microsoft.com/office/powerpoint/2010/main" val="299325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35F74-2A17-0FC8-4D05-E6E7CA104B61}"/>
              </a:ext>
            </a:extLst>
          </p:cNvPr>
          <p:cNvSpPr>
            <a:spLocks noGrp="1"/>
          </p:cNvSpPr>
          <p:nvPr>
            <p:ph type="title"/>
          </p:nvPr>
        </p:nvSpPr>
        <p:spPr/>
        <p:txBody>
          <a:bodyPr/>
          <a:lstStyle/>
          <a:p>
            <a:r>
              <a:rPr lang="en-US" b="1" dirty="0"/>
              <a:t>Cache Mapping</a:t>
            </a:r>
            <a:endParaRPr lang="en-IN" b="1" dirty="0"/>
          </a:p>
        </p:txBody>
      </p:sp>
      <p:sp>
        <p:nvSpPr>
          <p:cNvPr id="3" name="Content Placeholder 2">
            <a:extLst>
              <a:ext uri="{FF2B5EF4-FFF2-40B4-BE49-F238E27FC236}">
                <a16:creationId xmlns:a16="http://schemas.microsoft.com/office/drawing/2014/main" id="{9A134C38-651D-6017-C25B-F5281932BC2E}"/>
              </a:ext>
            </a:extLst>
          </p:cNvPr>
          <p:cNvSpPr>
            <a:spLocks noGrp="1"/>
          </p:cNvSpPr>
          <p:nvPr>
            <p:ph idx="1"/>
          </p:nvPr>
        </p:nvSpPr>
        <p:spPr/>
        <p:txBody>
          <a:bodyPr>
            <a:normAutofit fontScale="92500"/>
          </a:bodyPr>
          <a:lstStyle/>
          <a:p>
            <a:r>
              <a:rPr lang="en-US" dirty="0"/>
              <a:t> It is a technique that is used to bring the main memory content to the cache or to identify the cache block in which the required content is present.</a:t>
            </a:r>
          </a:p>
          <a:p>
            <a:r>
              <a:rPr lang="en-US" dirty="0"/>
              <a:t>The process of extracting the cache memory location and other related information in which the required content is present from the main memory address is called as cache mapping. </a:t>
            </a:r>
          </a:p>
          <a:p>
            <a:r>
              <a:rPr lang="en-US" dirty="0"/>
              <a:t>The cache mapping is done on the collection of bytes called blocks. In the mapping, the block of main memory is moved to the line of the cache memory.</a:t>
            </a:r>
            <a:endParaRPr lang="en-IN" dirty="0"/>
          </a:p>
        </p:txBody>
      </p:sp>
    </p:spTree>
    <p:extLst>
      <p:ext uri="{BB962C8B-B14F-4D97-AF65-F5344CB8AC3E}">
        <p14:creationId xmlns:p14="http://schemas.microsoft.com/office/powerpoint/2010/main" val="14456323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6FD18-484A-F647-4DFB-F9A589BAB73F}"/>
              </a:ext>
            </a:extLst>
          </p:cNvPr>
          <p:cNvSpPr>
            <a:spLocks noGrp="1"/>
          </p:cNvSpPr>
          <p:nvPr>
            <p:ph type="title"/>
          </p:nvPr>
        </p:nvSpPr>
        <p:spPr/>
        <p:txBody>
          <a:bodyPr/>
          <a:lstStyle/>
          <a:p>
            <a:r>
              <a:rPr lang="en-US" b="1" dirty="0"/>
              <a:t>Primary Terminologies</a:t>
            </a:r>
            <a:endParaRPr lang="en-IN" b="1" dirty="0"/>
          </a:p>
        </p:txBody>
      </p:sp>
      <p:sp>
        <p:nvSpPr>
          <p:cNvPr id="3" name="Content Placeholder 2">
            <a:extLst>
              <a:ext uri="{FF2B5EF4-FFF2-40B4-BE49-F238E27FC236}">
                <a16:creationId xmlns:a16="http://schemas.microsoft.com/office/drawing/2014/main" id="{8240C7F4-366E-441F-EFBC-5C5782AB2805}"/>
              </a:ext>
            </a:extLst>
          </p:cNvPr>
          <p:cNvSpPr>
            <a:spLocks noGrp="1"/>
          </p:cNvSpPr>
          <p:nvPr>
            <p:ph idx="1"/>
          </p:nvPr>
        </p:nvSpPr>
        <p:spPr>
          <a:xfrm>
            <a:off x="628650" y="2234633"/>
            <a:ext cx="7886700" cy="3263504"/>
          </a:xfrm>
        </p:spPr>
        <p:txBody>
          <a:bodyPr>
            <a:normAutofit fontScale="92500" lnSpcReduction="20000"/>
          </a:bodyPr>
          <a:lstStyle/>
          <a:p>
            <a:r>
              <a:rPr lang="en-US" dirty="0"/>
              <a:t>Some primary terminologies related to cache mapping are listed below: </a:t>
            </a:r>
          </a:p>
          <a:p>
            <a:r>
              <a:rPr lang="en-US" b="1" dirty="0"/>
              <a:t>Main Memory Blocks</a:t>
            </a:r>
            <a:r>
              <a:rPr lang="en-US" dirty="0"/>
              <a:t>: The main memory is divided into equal-sized partitions called the main memory blocks. </a:t>
            </a:r>
          </a:p>
          <a:p>
            <a:r>
              <a:rPr lang="en-US" b="1" dirty="0"/>
              <a:t>Cache Line</a:t>
            </a:r>
            <a:r>
              <a:rPr lang="en-US" dirty="0"/>
              <a:t>: The cache is divided into equal partitions called the cache lines.</a:t>
            </a:r>
          </a:p>
          <a:p>
            <a:r>
              <a:rPr lang="en-US" b="1" dirty="0"/>
              <a:t>Tag Bits</a:t>
            </a:r>
            <a:r>
              <a:rPr lang="en-US" dirty="0"/>
              <a:t>: Tag bits are the identification bits that are used to identify which block of main memory is present in the cache line.</a:t>
            </a:r>
            <a:endParaRPr lang="en-IN" dirty="0"/>
          </a:p>
        </p:txBody>
      </p:sp>
    </p:spTree>
    <p:extLst>
      <p:ext uri="{BB962C8B-B14F-4D97-AF65-F5344CB8AC3E}">
        <p14:creationId xmlns:p14="http://schemas.microsoft.com/office/powerpoint/2010/main" val="24474303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95F34-38CD-8A29-AD00-99BA57497371}"/>
              </a:ext>
            </a:extLst>
          </p:cNvPr>
          <p:cNvSpPr>
            <a:spLocks noGrp="1"/>
          </p:cNvSpPr>
          <p:nvPr>
            <p:ph type="title"/>
          </p:nvPr>
        </p:nvSpPr>
        <p:spPr/>
        <p:txBody>
          <a:bodyPr/>
          <a:lstStyle/>
          <a:p>
            <a:r>
              <a:rPr lang="en-US" b="1" dirty="0"/>
              <a:t>Need for Cache Mapping</a:t>
            </a:r>
            <a:endParaRPr lang="en-IN" b="1" dirty="0"/>
          </a:p>
        </p:txBody>
      </p:sp>
      <p:sp>
        <p:nvSpPr>
          <p:cNvPr id="3" name="Content Placeholder 2">
            <a:extLst>
              <a:ext uri="{FF2B5EF4-FFF2-40B4-BE49-F238E27FC236}">
                <a16:creationId xmlns:a16="http://schemas.microsoft.com/office/drawing/2014/main" id="{E06A4E56-EF06-B494-DA34-E54FB4B774AB}"/>
              </a:ext>
            </a:extLst>
          </p:cNvPr>
          <p:cNvSpPr>
            <a:spLocks noGrp="1"/>
          </p:cNvSpPr>
          <p:nvPr>
            <p:ph idx="1"/>
          </p:nvPr>
        </p:nvSpPr>
        <p:spPr/>
        <p:txBody>
          <a:bodyPr/>
          <a:lstStyle/>
          <a:p>
            <a:r>
              <a:rPr lang="en-US" dirty="0"/>
              <a:t>Cache mapping is needed to identify where the cache memory is present in cache memory. </a:t>
            </a:r>
          </a:p>
          <a:p>
            <a:r>
              <a:rPr lang="en-US" dirty="0"/>
              <a:t>Mapping provides the cache line number where the content is present in the case of </a:t>
            </a:r>
            <a:r>
              <a:rPr lang="en-US" b="1" dirty="0"/>
              <a:t>cache hit </a:t>
            </a:r>
          </a:p>
          <a:p>
            <a:r>
              <a:rPr lang="en-US" dirty="0"/>
              <a:t>       or where to bring the content from the main memory in the case of </a:t>
            </a:r>
            <a:r>
              <a:rPr lang="en-US" b="1" dirty="0"/>
              <a:t>cache miss</a:t>
            </a:r>
            <a:r>
              <a:rPr lang="en-US" dirty="0"/>
              <a:t>.</a:t>
            </a:r>
            <a:endParaRPr lang="en-IN" dirty="0"/>
          </a:p>
        </p:txBody>
      </p:sp>
    </p:spTree>
    <p:extLst>
      <p:ext uri="{BB962C8B-B14F-4D97-AF65-F5344CB8AC3E}">
        <p14:creationId xmlns:p14="http://schemas.microsoft.com/office/powerpoint/2010/main" val="38721123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C5688-7973-F1B8-4F8D-B4B3C6317679}"/>
              </a:ext>
            </a:extLst>
          </p:cNvPr>
          <p:cNvSpPr>
            <a:spLocks noGrp="1"/>
          </p:cNvSpPr>
          <p:nvPr>
            <p:ph type="title"/>
          </p:nvPr>
        </p:nvSpPr>
        <p:spPr/>
        <p:txBody>
          <a:bodyPr/>
          <a:lstStyle/>
          <a:p>
            <a:r>
              <a:rPr lang="en-IN" b="1" i="0" dirty="0">
                <a:solidFill>
                  <a:srgbClr val="273239"/>
                </a:solidFill>
                <a:effectLst/>
                <a:highlight>
                  <a:srgbClr val="FFFFFF"/>
                </a:highlight>
                <a:latin typeface="Nunito" pitchFamily="2" charset="0"/>
              </a:rPr>
              <a:t>Cache Mapping Techniques</a:t>
            </a:r>
            <a:br>
              <a:rPr lang="en-IN"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C4FE225E-4B95-E968-26A1-51F50D1D0412}"/>
              </a:ext>
            </a:extLst>
          </p:cNvPr>
          <p:cNvSpPr>
            <a:spLocks noGrp="1"/>
          </p:cNvSpPr>
          <p:nvPr>
            <p:ph idx="1"/>
          </p:nvPr>
        </p:nvSpPr>
        <p:spPr/>
        <p:txBody>
          <a:bodyPr/>
          <a:lstStyle/>
          <a:p>
            <a:r>
              <a:rPr lang="en-US" dirty="0"/>
              <a:t>There are three types of cache mappings namely: </a:t>
            </a:r>
          </a:p>
          <a:p>
            <a:r>
              <a:rPr lang="en-US" b="1" dirty="0"/>
              <a:t>Direct Mapping </a:t>
            </a:r>
          </a:p>
          <a:p>
            <a:r>
              <a:rPr lang="en-US" b="1" dirty="0"/>
              <a:t>Fully Associative Mapping </a:t>
            </a:r>
          </a:p>
          <a:p>
            <a:r>
              <a:rPr lang="en-US" b="1" dirty="0"/>
              <a:t>Set Associative Mapping</a:t>
            </a:r>
            <a:endParaRPr lang="en-IN" b="1" dirty="0"/>
          </a:p>
        </p:txBody>
      </p:sp>
    </p:spTree>
    <p:extLst>
      <p:ext uri="{BB962C8B-B14F-4D97-AF65-F5344CB8AC3E}">
        <p14:creationId xmlns:p14="http://schemas.microsoft.com/office/powerpoint/2010/main" val="2880287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5833D-BF99-2707-C8C0-2DC2C0997407}"/>
              </a:ext>
            </a:extLst>
          </p:cNvPr>
          <p:cNvSpPr>
            <a:spLocks noGrp="1"/>
          </p:cNvSpPr>
          <p:nvPr>
            <p:ph type="title"/>
          </p:nvPr>
        </p:nvSpPr>
        <p:spPr/>
        <p:txBody>
          <a:bodyPr/>
          <a:lstStyle/>
          <a:p>
            <a:r>
              <a:rPr lang="en-IN" b="1" dirty="0"/>
              <a:t>Direct Mapping</a:t>
            </a:r>
          </a:p>
        </p:txBody>
      </p:sp>
      <p:sp>
        <p:nvSpPr>
          <p:cNvPr id="3" name="Content Placeholder 2">
            <a:extLst>
              <a:ext uri="{FF2B5EF4-FFF2-40B4-BE49-F238E27FC236}">
                <a16:creationId xmlns:a16="http://schemas.microsoft.com/office/drawing/2014/main" id="{0B957D02-18A8-8023-A567-176F9AAEFCD0}"/>
              </a:ext>
            </a:extLst>
          </p:cNvPr>
          <p:cNvSpPr>
            <a:spLocks noGrp="1"/>
          </p:cNvSpPr>
          <p:nvPr>
            <p:ph idx="1"/>
          </p:nvPr>
        </p:nvSpPr>
        <p:spPr>
          <a:xfrm>
            <a:off x="486383" y="1825624"/>
            <a:ext cx="8028967" cy="5032375"/>
          </a:xfrm>
        </p:spPr>
        <p:txBody>
          <a:bodyPr/>
          <a:lstStyle/>
          <a:p>
            <a:r>
              <a:rPr lang="en-US" dirty="0"/>
              <a:t>In direct mapping physical address is divided into three parts i.e., Tag bits, Cache Line Number and Byte offset. </a:t>
            </a:r>
          </a:p>
          <a:p>
            <a:r>
              <a:rPr lang="en-US" dirty="0"/>
              <a:t>The bits in the </a:t>
            </a:r>
            <a:r>
              <a:rPr lang="en-US" b="1" dirty="0"/>
              <a:t>cache line number </a:t>
            </a:r>
            <a:r>
              <a:rPr lang="en-US" dirty="0"/>
              <a:t>represents the cache line in which the content is present whereas the bits </a:t>
            </a:r>
            <a:r>
              <a:rPr lang="en-US" b="1" dirty="0"/>
              <a:t>in tag </a:t>
            </a:r>
            <a:r>
              <a:rPr lang="en-US" dirty="0"/>
              <a:t>are the identification bits that represents which block of main memory is present in cache.</a:t>
            </a:r>
          </a:p>
          <a:p>
            <a:r>
              <a:rPr lang="en-US" dirty="0"/>
              <a:t> The bits in the </a:t>
            </a:r>
            <a:r>
              <a:rPr lang="en-US" b="1" dirty="0"/>
              <a:t>byte offset </a:t>
            </a:r>
            <a:r>
              <a:rPr lang="en-US" dirty="0"/>
              <a:t>decides in which byte of the identified block the required content is present.</a:t>
            </a:r>
            <a:endParaRPr lang="en-IN" dirty="0"/>
          </a:p>
        </p:txBody>
      </p:sp>
      <p:pic>
        <p:nvPicPr>
          <p:cNvPr id="5" name="Picture 4">
            <a:extLst>
              <a:ext uri="{FF2B5EF4-FFF2-40B4-BE49-F238E27FC236}">
                <a16:creationId xmlns:a16="http://schemas.microsoft.com/office/drawing/2014/main" id="{D3961A81-FF28-8B97-8F58-8F23B540A2F2}"/>
              </a:ext>
            </a:extLst>
          </p:cNvPr>
          <p:cNvPicPr>
            <a:picLocks noChangeAspect="1"/>
          </p:cNvPicPr>
          <p:nvPr/>
        </p:nvPicPr>
        <p:blipFill>
          <a:blip r:embed="rId2"/>
          <a:stretch>
            <a:fillRect/>
          </a:stretch>
        </p:blipFill>
        <p:spPr>
          <a:xfrm>
            <a:off x="810677" y="5971307"/>
            <a:ext cx="5710214" cy="1043133"/>
          </a:xfrm>
          <a:prstGeom prst="rect">
            <a:avLst/>
          </a:prstGeom>
        </p:spPr>
      </p:pic>
    </p:spTree>
    <p:extLst>
      <p:ext uri="{BB962C8B-B14F-4D97-AF65-F5344CB8AC3E}">
        <p14:creationId xmlns:p14="http://schemas.microsoft.com/office/powerpoint/2010/main" val="37787443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0C4A-AC83-A85A-D63F-3E6BC6F9E407}"/>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AB25C23-C5A4-9707-79CE-55C10B5205F6}"/>
              </a:ext>
            </a:extLst>
          </p:cNvPr>
          <p:cNvSpPr>
            <a:spLocks noGrp="1"/>
          </p:cNvSpPr>
          <p:nvPr>
            <p:ph idx="1"/>
          </p:nvPr>
        </p:nvSpPr>
        <p:spPr/>
        <p:txBody>
          <a:bodyPr/>
          <a:lstStyle/>
          <a:p>
            <a:r>
              <a:rPr lang="en-US" dirty="0"/>
              <a:t>The simplest technique is direct mapping</a:t>
            </a:r>
          </a:p>
          <a:p>
            <a:r>
              <a:rPr lang="en-US" dirty="0"/>
              <a:t>If a line is previously taken up by a memory block when a new block needs to be loaded, the old block is trashed.</a:t>
            </a:r>
          </a:p>
          <a:p>
            <a:r>
              <a:rPr lang="en-US" dirty="0"/>
              <a:t>Direct mapping’s performance is directly proportional to the hit ratio.</a:t>
            </a:r>
            <a:endParaRPr lang="en-IN" dirty="0"/>
          </a:p>
        </p:txBody>
      </p:sp>
      <p:pic>
        <p:nvPicPr>
          <p:cNvPr id="5" name="Picture 4">
            <a:extLst>
              <a:ext uri="{FF2B5EF4-FFF2-40B4-BE49-F238E27FC236}">
                <a16:creationId xmlns:a16="http://schemas.microsoft.com/office/drawing/2014/main" id="{BA844FDC-50F9-7980-F8BC-A9612593E194}"/>
              </a:ext>
            </a:extLst>
          </p:cNvPr>
          <p:cNvPicPr>
            <a:picLocks noChangeAspect="1"/>
          </p:cNvPicPr>
          <p:nvPr/>
        </p:nvPicPr>
        <p:blipFill>
          <a:blip r:embed="rId2"/>
          <a:stretch>
            <a:fillRect/>
          </a:stretch>
        </p:blipFill>
        <p:spPr>
          <a:xfrm>
            <a:off x="628650" y="4557928"/>
            <a:ext cx="7486650" cy="1300233"/>
          </a:xfrm>
          <a:prstGeom prst="rect">
            <a:avLst/>
          </a:prstGeom>
        </p:spPr>
      </p:pic>
    </p:spTree>
    <p:extLst>
      <p:ext uri="{BB962C8B-B14F-4D97-AF65-F5344CB8AC3E}">
        <p14:creationId xmlns:p14="http://schemas.microsoft.com/office/powerpoint/2010/main" val="4053101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F9EB37-C175-FAB8-EF9C-27A113488FBB}"/>
              </a:ext>
            </a:extLst>
          </p:cNvPr>
          <p:cNvPicPr>
            <a:picLocks noChangeAspect="1"/>
          </p:cNvPicPr>
          <p:nvPr/>
        </p:nvPicPr>
        <p:blipFill>
          <a:blip r:embed="rId2"/>
          <a:stretch>
            <a:fillRect/>
          </a:stretch>
        </p:blipFill>
        <p:spPr>
          <a:xfrm>
            <a:off x="497840" y="792480"/>
            <a:ext cx="7995919" cy="5872480"/>
          </a:xfrm>
          <a:prstGeom prst="rect">
            <a:avLst/>
          </a:prstGeom>
        </p:spPr>
      </p:pic>
    </p:spTree>
    <p:extLst>
      <p:ext uri="{BB962C8B-B14F-4D97-AF65-F5344CB8AC3E}">
        <p14:creationId xmlns:p14="http://schemas.microsoft.com/office/powerpoint/2010/main" val="1540278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D6CC-9FB9-6CA5-CDF9-77D98B3B3A3E}"/>
              </a:ext>
            </a:extLst>
          </p:cNvPr>
          <p:cNvSpPr>
            <a:spLocks noGrp="1"/>
          </p:cNvSpPr>
          <p:nvPr>
            <p:ph type="title"/>
          </p:nvPr>
        </p:nvSpPr>
        <p:spPr/>
        <p:txBody>
          <a:bodyPr/>
          <a:lstStyle/>
          <a:p>
            <a:r>
              <a:rPr lang="en-US" dirty="0"/>
              <a:t>Drawbacks </a:t>
            </a:r>
            <a:endParaRPr lang="en-IN" dirty="0"/>
          </a:p>
        </p:txBody>
      </p:sp>
      <p:sp>
        <p:nvSpPr>
          <p:cNvPr id="3" name="Content Placeholder 2">
            <a:extLst>
              <a:ext uri="{FF2B5EF4-FFF2-40B4-BE49-F238E27FC236}">
                <a16:creationId xmlns:a16="http://schemas.microsoft.com/office/drawing/2014/main" id="{F8750E66-21CF-3172-10A7-81884D0CED89}"/>
              </a:ext>
            </a:extLst>
          </p:cNvPr>
          <p:cNvSpPr>
            <a:spLocks noGrp="1"/>
          </p:cNvSpPr>
          <p:nvPr>
            <p:ph idx="1"/>
          </p:nvPr>
        </p:nvSpPr>
        <p:spPr/>
        <p:txBody>
          <a:bodyPr/>
          <a:lstStyle/>
          <a:p>
            <a:r>
              <a:rPr lang="en-US" dirty="0"/>
              <a:t>Compulsory miss occurs</a:t>
            </a:r>
          </a:p>
          <a:p>
            <a:r>
              <a:rPr lang="en-US" dirty="0"/>
              <a:t>Conflict miss occurs</a:t>
            </a:r>
          </a:p>
          <a:p>
            <a:r>
              <a:rPr lang="en-US" dirty="0"/>
              <a:t>Cache memory could not be used effectively</a:t>
            </a:r>
            <a:endParaRPr lang="en-IN" dirty="0"/>
          </a:p>
        </p:txBody>
      </p:sp>
    </p:spTree>
    <p:extLst>
      <p:ext uri="{BB962C8B-B14F-4D97-AF65-F5344CB8AC3E}">
        <p14:creationId xmlns:p14="http://schemas.microsoft.com/office/powerpoint/2010/main" val="9736339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8F63-582A-CCEA-6F46-DEC97BF2C8C1}"/>
              </a:ext>
            </a:extLst>
          </p:cNvPr>
          <p:cNvSpPr>
            <a:spLocks noGrp="1"/>
          </p:cNvSpPr>
          <p:nvPr>
            <p:ph type="title"/>
          </p:nvPr>
        </p:nvSpPr>
        <p:spPr/>
        <p:txBody>
          <a:bodyPr/>
          <a:lstStyle/>
          <a:p>
            <a:r>
              <a:rPr lang="en-IN" b="1" dirty="0"/>
              <a:t>Fully Associative Mapping</a:t>
            </a:r>
          </a:p>
        </p:txBody>
      </p:sp>
      <p:sp>
        <p:nvSpPr>
          <p:cNvPr id="3" name="Content Placeholder 2">
            <a:extLst>
              <a:ext uri="{FF2B5EF4-FFF2-40B4-BE49-F238E27FC236}">
                <a16:creationId xmlns:a16="http://schemas.microsoft.com/office/drawing/2014/main" id="{FEC37E4D-48A4-F486-2751-A254ABEC80D1}"/>
              </a:ext>
            </a:extLst>
          </p:cNvPr>
          <p:cNvSpPr>
            <a:spLocks noGrp="1"/>
          </p:cNvSpPr>
          <p:nvPr>
            <p:ph idx="1"/>
          </p:nvPr>
        </p:nvSpPr>
        <p:spPr/>
        <p:txBody>
          <a:bodyPr/>
          <a:lstStyle/>
          <a:p>
            <a:r>
              <a:rPr lang="en-US" dirty="0"/>
              <a:t>In fully associative mapping address is divided into two parts i.e., Tag bits and Byte offset. </a:t>
            </a:r>
          </a:p>
          <a:p>
            <a:r>
              <a:rPr lang="en-US" dirty="0"/>
              <a:t>The </a:t>
            </a:r>
            <a:r>
              <a:rPr lang="en-US" b="1" dirty="0"/>
              <a:t>tag bits </a:t>
            </a:r>
            <a:r>
              <a:rPr lang="en-US" dirty="0"/>
              <a:t>identify that which memory block is present and </a:t>
            </a:r>
          </a:p>
          <a:p>
            <a:r>
              <a:rPr lang="en-US" dirty="0"/>
              <a:t>bits in the </a:t>
            </a:r>
            <a:r>
              <a:rPr lang="en-US" b="1" dirty="0"/>
              <a:t>byte offset </a:t>
            </a:r>
            <a:r>
              <a:rPr lang="en-US" dirty="0"/>
              <a:t>field decides in which byte of the block the required content is present.</a:t>
            </a:r>
          </a:p>
          <a:p>
            <a:endParaRPr lang="en-US" dirty="0"/>
          </a:p>
          <a:p>
            <a:pPr marL="0" indent="0">
              <a:buNone/>
            </a:pPr>
            <a:endParaRPr lang="en-IN" dirty="0"/>
          </a:p>
        </p:txBody>
      </p:sp>
      <p:pic>
        <p:nvPicPr>
          <p:cNvPr id="5" name="Picture 4">
            <a:extLst>
              <a:ext uri="{FF2B5EF4-FFF2-40B4-BE49-F238E27FC236}">
                <a16:creationId xmlns:a16="http://schemas.microsoft.com/office/drawing/2014/main" id="{959130F5-F4B3-6107-A6A5-291398E13C13}"/>
              </a:ext>
            </a:extLst>
          </p:cNvPr>
          <p:cNvPicPr>
            <a:picLocks noChangeAspect="1"/>
          </p:cNvPicPr>
          <p:nvPr/>
        </p:nvPicPr>
        <p:blipFill>
          <a:blip r:embed="rId2"/>
          <a:stretch>
            <a:fillRect/>
          </a:stretch>
        </p:blipFill>
        <p:spPr>
          <a:xfrm>
            <a:off x="523375" y="4887203"/>
            <a:ext cx="5105266" cy="914756"/>
          </a:xfrm>
          <a:prstGeom prst="rect">
            <a:avLst/>
          </a:prstGeom>
        </p:spPr>
      </p:pic>
    </p:spTree>
    <p:extLst>
      <p:ext uri="{BB962C8B-B14F-4D97-AF65-F5344CB8AC3E}">
        <p14:creationId xmlns:p14="http://schemas.microsoft.com/office/powerpoint/2010/main" val="24816861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7FEEC-16D3-3467-A35F-98FD3184875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BFBAD0E-810E-9546-80CE-6424DBF8E97C}"/>
              </a:ext>
            </a:extLst>
          </p:cNvPr>
          <p:cNvSpPr>
            <a:spLocks noGrp="1"/>
          </p:cNvSpPr>
          <p:nvPr>
            <p:ph idx="1"/>
          </p:nvPr>
        </p:nvSpPr>
        <p:spPr/>
        <p:txBody>
          <a:bodyPr>
            <a:normAutofit/>
          </a:bodyPr>
          <a:lstStyle/>
          <a:p>
            <a:r>
              <a:rPr lang="en-US" dirty="0"/>
              <a:t>In this type of mapping, associative memory is used to store the content and addresses of the memory word. </a:t>
            </a:r>
          </a:p>
          <a:p>
            <a:r>
              <a:rPr lang="en-US" dirty="0"/>
              <a:t>A block of main memory can map to any line of the cache that is freely available at that moment.</a:t>
            </a:r>
          </a:p>
          <a:p>
            <a:r>
              <a:rPr lang="en-US" dirty="0"/>
              <a:t> This enables the placement of any word at any place in the cache memory. </a:t>
            </a:r>
          </a:p>
          <a:p>
            <a:r>
              <a:rPr lang="en-US" dirty="0"/>
              <a:t>It is considered to be the fastest and most flexible mapping form.</a:t>
            </a:r>
            <a:endParaRPr lang="en-IN" dirty="0"/>
          </a:p>
        </p:txBody>
      </p:sp>
    </p:spTree>
    <p:extLst>
      <p:ext uri="{BB962C8B-B14F-4D97-AF65-F5344CB8AC3E}">
        <p14:creationId xmlns:p14="http://schemas.microsoft.com/office/powerpoint/2010/main" val="38580704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A7A866-AD88-39AD-238F-E3EBBE2B6DAF}"/>
              </a:ext>
            </a:extLst>
          </p:cNvPr>
          <p:cNvPicPr>
            <a:picLocks noChangeAspect="1"/>
          </p:cNvPicPr>
          <p:nvPr/>
        </p:nvPicPr>
        <p:blipFill>
          <a:blip r:embed="rId2"/>
          <a:stretch>
            <a:fillRect/>
          </a:stretch>
        </p:blipFill>
        <p:spPr>
          <a:xfrm>
            <a:off x="447040" y="406400"/>
            <a:ext cx="7924800" cy="6248400"/>
          </a:xfrm>
          <a:prstGeom prst="rect">
            <a:avLst/>
          </a:prstGeom>
        </p:spPr>
      </p:pic>
    </p:spTree>
    <p:extLst>
      <p:ext uri="{BB962C8B-B14F-4D97-AF65-F5344CB8AC3E}">
        <p14:creationId xmlns:p14="http://schemas.microsoft.com/office/powerpoint/2010/main" val="23813771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2DADC-BC31-1242-DD5D-7AA99890B899}"/>
              </a:ext>
            </a:extLst>
          </p:cNvPr>
          <p:cNvSpPr>
            <a:spLocks noGrp="1"/>
          </p:cNvSpPr>
          <p:nvPr>
            <p:ph type="title"/>
          </p:nvPr>
        </p:nvSpPr>
        <p:spPr>
          <a:xfrm>
            <a:off x="446528" y="253924"/>
            <a:ext cx="7886700" cy="994172"/>
          </a:xfrm>
        </p:spPr>
        <p:txBody>
          <a:bodyPr/>
          <a:lstStyle/>
          <a:p>
            <a:r>
              <a:rPr lang="en-IN" b="1" dirty="0"/>
              <a:t>Set Associative Mapping</a:t>
            </a:r>
          </a:p>
        </p:txBody>
      </p:sp>
      <p:sp>
        <p:nvSpPr>
          <p:cNvPr id="3" name="Content Placeholder 2">
            <a:extLst>
              <a:ext uri="{FF2B5EF4-FFF2-40B4-BE49-F238E27FC236}">
                <a16:creationId xmlns:a16="http://schemas.microsoft.com/office/drawing/2014/main" id="{27B7429A-D26D-C073-62DD-3990682698D3}"/>
              </a:ext>
            </a:extLst>
          </p:cNvPr>
          <p:cNvSpPr>
            <a:spLocks noGrp="1"/>
          </p:cNvSpPr>
          <p:nvPr>
            <p:ph idx="1"/>
          </p:nvPr>
        </p:nvSpPr>
        <p:spPr>
          <a:xfrm>
            <a:off x="446528" y="1248095"/>
            <a:ext cx="8520491" cy="5355981"/>
          </a:xfrm>
        </p:spPr>
        <p:txBody>
          <a:bodyPr>
            <a:normAutofit/>
          </a:bodyPr>
          <a:lstStyle/>
          <a:p>
            <a:r>
              <a:rPr lang="en-US" dirty="0"/>
              <a:t>In set associative mapping the cache blocks are divided in sets. </a:t>
            </a:r>
          </a:p>
          <a:p>
            <a:r>
              <a:rPr lang="en-US" dirty="0"/>
              <a:t>It divides address into three parts i.e., Tag bits, set number and byte offset. </a:t>
            </a:r>
          </a:p>
          <a:p>
            <a:r>
              <a:rPr lang="en-US" dirty="0"/>
              <a:t>The bits in </a:t>
            </a:r>
            <a:r>
              <a:rPr lang="en-US" b="1" dirty="0"/>
              <a:t>set number </a:t>
            </a:r>
            <a:r>
              <a:rPr lang="en-US" dirty="0"/>
              <a:t>decides that in which set of the cache the required block is present and </a:t>
            </a:r>
          </a:p>
          <a:p>
            <a:r>
              <a:rPr lang="en-US" b="1" dirty="0"/>
              <a:t>tag bits </a:t>
            </a:r>
            <a:r>
              <a:rPr lang="en-US" dirty="0"/>
              <a:t>identify which block of the main memory is present. </a:t>
            </a:r>
          </a:p>
          <a:p>
            <a:r>
              <a:rPr lang="en-US" dirty="0"/>
              <a:t>The bits in the </a:t>
            </a:r>
            <a:r>
              <a:rPr lang="en-US" b="1" dirty="0"/>
              <a:t>byte offset </a:t>
            </a:r>
            <a:r>
              <a:rPr lang="en-US" dirty="0"/>
              <a:t>field gives us the byte of the block in which the content is present.</a:t>
            </a:r>
            <a:endParaRPr lang="en-IN" dirty="0"/>
          </a:p>
        </p:txBody>
      </p:sp>
      <p:pic>
        <p:nvPicPr>
          <p:cNvPr id="5" name="Picture 4">
            <a:extLst>
              <a:ext uri="{FF2B5EF4-FFF2-40B4-BE49-F238E27FC236}">
                <a16:creationId xmlns:a16="http://schemas.microsoft.com/office/drawing/2014/main" id="{82730B17-CEBC-E6A4-CDC5-2208B132982A}"/>
              </a:ext>
            </a:extLst>
          </p:cNvPr>
          <p:cNvPicPr>
            <a:picLocks noChangeAspect="1"/>
          </p:cNvPicPr>
          <p:nvPr/>
        </p:nvPicPr>
        <p:blipFill>
          <a:blip r:embed="rId2"/>
          <a:stretch>
            <a:fillRect/>
          </a:stretch>
        </p:blipFill>
        <p:spPr>
          <a:xfrm>
            <a:off x="710333" y="5764722"/>
            <a:ext cx="3679545" cy="839354"/>
          </a:xfrm>
          <a:prstGeom prst="rect">
            <a:avLst/>
          </a:prstGeom>
        </p:spPr>
      </p:pic>
    </p:spTree>
    <p:extLst>
      <p:ext uri="{BB962C8B-B14F-4D97-AF65-F5344CB8AC3E}">
        <p14:creationId xmlns:p14="http://schemas.microsoft.com/office/powerpoint/2010/main" val="5749565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73981-0753-886B-10F0-274C9FFF324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33BEC81-26B5-C12B-6513-73D8329337D2}"/>
              </a:ext>
            </a:extLst>
          </p:cNvPr>
          <p:cNvSpPr>
            <a:spLocks noGrp="1"/>
          </p:cNvSpPr>
          <p:nvPr>
            <p:ph idx="1"/>
          </p:nvPr>
        </p:nvSpPr>
        <p:spPr/>
        <p:txBody>
          <a:bodyPr/>
          <a:lstStyle/>
          <a:p>
            <a:r>
              <a:rPr lang="en-US" dirty="0"/>
              <a:t>This form of mapping is an enhanced form of direct mapping where the drawbacks of direct mapping are removed.</a:t>
            </a:r>
          </a:p>
          <a:p>
            <a:r>
              <a:rPr lang="en-US" dirty="0"/>
              <a:t>Set associative cache mapping combines the best of direct and associative cache mapping techniques</a:t>
            </a:r>
            <a:endParaRPr lang="en-IN" dirty="0"/>
          </a:p>
        </p:txBody>
      </p:sp>
      <p:pic>
        <p:nvPicPr>
          <p:cNvPr id="5" name="Picture 4">
            <a:extLst>
              <a:ext uri="{FF2B5EF4-FFF2-40B4-BE49-F238E27FC236}">
                <a16:creationId xmlns:a16="http://schemas.microsoft.com/office/drawing/2014/main" id="{EC31C2B8-F068-2778-2846-70D79419F4F4}"/>
              </a:ext>
            </a:extLst>
          </p:cNvPr>
          <p:cNvPicPr>
            <a:picLocks noChangeAspect="1"/>
          </p:cNvPicPr>
          <p:nvPr/>
        </p:nvPicPr>
        <p:blipFill>
          <a:blip r:embed="rId2"/>
          <a:stretch>
            <a:fillRect/>
          </a:stretch>
        </p:blipFill>
        <p:spPr>
          <a:xfrm>
            <a:off x="528920" y="4300673"/>
            <a:ext cx="7724639" cy="1287345"/>
          </a:xfrm>
          <a:prstGeom prst="rect">
            <a:avLst/>
          </a:prstGeom>
        </p:spPr>
      </p:pic>
    </p:spTree>
    <p:extLst>
      <p:ext uri="{BB962C8B-B14F-4D97-AF65-F5344CB8AC3E}">
        <p14:creationId xmlns:p14="http://schemas.microsoft.com/office/powerpoint/2010/main" val="36578023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9329AC-629A-054A-4A53-B4E5A9925FE5}"/>
              </a:ext>
            </a:extLst>
          </p:cNvPr>
          <p:cNvPicPr>
            <a:picLocks noChangeAspect="1"/>
          </p:cNvPicPr>
          <p:nvPr/>
        </p:nvPicPr>
        <p:blipFill>
          <a:blip r:embed="rId2"/>
          <a:stretch>
            <a:fillRect/>
          </a:stretch>
        </p:blipFill>
        <p:spPr>
          <a:xfrm>
            <a:off x="538480" y="528320"/>
            <a:ext cx="7924800" cy="5750559"/>
          </a:xfrm>
          <a:prstGeom prst="rect">
            <a:avLst/>
          </a:prstGeom>
        </p:spPr>
      </p:pic>
    </p:spTree>
    <p:extLst>
      <p:ext uri="{BB962C8B-B14F-4D97-AF65-F5344CB8AC3E}">
        <p14:creationId xmlns:p14="http://schemas.microsoft.com/office/powerpoint/2010/main" val="2590361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536B2-3756-E519-9EB6-F032C9AEDFC0}"/>
              </a:ext>
            </a:extLst>
          </p:cNvPr>
          <p:cNvSpPr>
            <a:spLocks noGrp="1"/>
          </p:cNvSpPr>
          <p:nvPr>
            <p:ph type="title"/>
          </p:nvPr>
        </p:nvSpPr>
        <p:spPr/>
        <p:txBody>
          <a:bodyPr/>
          <a:lstStyle/>
          <a:p>
            <a:r>
              <a:rPr lang="en-US" b="1" dirty="0"/>
              <a:t>Virtual memory</a:t>
            </a:r>
            <a:endParaRPr lang="en-IN" b="1" dirty="0"/>
          </a:p>
        </p:txBody>
      </p:sp>
      <p:sp>
        <p:nvSpPr>
          <p:cNvPr id="3" name="Content Placeholder 2">
            <a:extLst>
              <a:ext uri="{FF2B5EF4-FFF2-40B4-BE49-F238E27FC236}">
                <a16:creationId xmlns:a16="http://schemas.microsoft.com/office/drawing/2014/main" id="{AB161946-15DA-BC20-62CE-9BF195AA3C84}"/>
              </a:ext>
            </a:extLst>
          </p:cNvPr>
          <p:cNvSpPr>
            <a:spLocks noGrp="1"/>
          </p:cNvSpPr>
          <p:nvPr>
            <p:ph idx="1"/>
          </p:nvPr>
        </p:nvSpPr>
        <p:spPr/>
        <p:txBody>
          <a:bodyPr>
            <a:normAutofit/>
          </a:bodyPr>
          <a:lstStyle/>
          <a:p>
            <a:r>
              <a:rPr lang="en-US" sz="2400" dirty="0"/>
              <a:t>Virtual Memory is a storage scheme that provides user an illusion of having a very big main memory. </a:t>
            </a:r>
          </a:p>
          <a:p>
            <a:r>
              <a:rPr lang="en-US" sz="2400" dirty="0"/>
              <a:t>This is done by treating a part of secondary memory as the main memory.</a:t>
            </a:r>
          </a:p>
          <a:p>
            <a:r>
              <a:rPr lang="en-US" sz="2400" dirty="0"/>
              <a:t>Virtual memory provides benefits in terms of costs, physical space, multitasking capabilities, and data security.</a:t>
            </a:r>
            <a:endParaRPr lang="en-IN" sz="2400" dirty="0"/>
          </a:p>
        </p:txBody>
      </p:sp>
    </p:spTree>
    <p:extLst>
      <p:ext uri="{BB962C8B-B14F-4D97-AF65-F5344CB8AC3E}">
        <p14:creationId xmlns:p14="http://schemas.microsoft.com/office/powerpoint/2010/main" val="251593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4840-FEBD-DB7C-BD48-FC2C5E497E5F}"/>
              </a:ext>
            </a:extLst>
          </p:cNvPr>
          <p:cNvSpPr>
            <a:spLocks noGrp="1"/>
          </p:cNvSpPr>
          <p:nvPr>
            <p:ph type="title"/>
          </p:nvPr>
        </p:nvSpPr>
        <p:spPr/>
        <p:txBody>
          <a:bodyPr/>
          <a:lstStyle/>
          <a:p>
            <a:r>
              <a:rPr lang="en-IN" b="1" dirty="0"/>
              <a:t>Types of virtual memory</a:t>
            </a:r>
          </a:p>
        </p:txBody>
      </p:sp>
      <p:sp>
        <p:nvSpPr>
          <p:cNvPr id="3" name="Content Placeholder 2">
            <a:extLst>
              <a:ext uri="{FF2B5EF4-FFF2-40B4-BE49-F238E27FC236}">
                <a16:creationId xmlns:a16="http://schemas.microsoft.com/office/drawing/2014/main" id="{236ED5BB-1CD1-79F9-A196-BDD56CB8EF8E}"/>
              </a:ext>
            </a:extLst>
          </p:cNvPr>
          <p:cNvSpPr>
            <a:spLocks noGrp="1"/>
          </p:cNvSpPr>
          <p:nvPr>
            <p:ph idx="1"/>
          </p:nvPr>
        </p:nvSpPr>
        <p:spPr>
          <a:xfrm>
            <a:off x="628650" y="1825624"/>
            <a:ext cx="7886700" cy="3905325"/>
          </a:xfrm>
        </p:spPr>
        <p:txBody>
          <a:bodyPr>
            <a:normAutofit/>
          </a:bodyPr>
          <a:lstStyle/>
          <a:p>
            <a:r>
              <a:rPr lang="en-US" sz="2400" dirty="0"/>
              <a:t>There are two techniques to manage virtual memory, </a:t>
            </a:r>
          </a:p>
          <a:p>
            <a:r>
              <a:rPr lang="en-US" sz="2400" b="1" dirty="0"/>
              <a:t>paging </a:t>
            </a:r>
          </a:p>
          <a:p>
            <a:r>
              <a:rPr lang="en-US" sz="2400" b="1" dirty="0"/>
              <a:t>segmentation.</a:t>
            </a:r>
          </a:p>
          <a:p>
            <a:r>
              <a:rPr lang="en-US" sz="2400" b="1" dirty="0"/>
              <a:t>Paging: </a:t>
            </a:r>
            <a:r>
              <a:rPr lang="en-US" sz="2400" dirty="0"/>
              <a:t>RAM is segregated into blocks. These blocks are referred to as pages. Computing processes are then allocated to these pages based on their memory needs.</a:t>
            </a:r>
            <a:endParaRPr lang="en-IN" sz="2400" dirty="0"/>
          </a:p>
        </p:txBody>
      </p:sp>
    </p:spTree>
    <p:extLst>
      <p:ext uri="{BB962C8B-B14F-4D97-AF65-F5344CB8AC3E}">
        <p14:creationId xmlns:p14="http://schemas.microsoft.com/office/powerpoint/2010/main" val="365518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4FF39-E53F-72CE-82F2-093D7B83EA01}"/>
              </a:ext>
            </a:extLst>
          </p:cNvPr>
          <p:cNvSpPr>
            <a:spLocks noGrp="1"/>
          </p:cNvSpPr>
          <p:nvPr>
            <p:ph type="title"/>
          </p:nvPr>
        </p:nvSpPr>
        <p:spPr/>
        <p:txBody>
          <a:bodyPr/>
          <a:lstStyle/>
          <a:p>
            <a:r>
              <a:rPr lang="en-US" b="1" dirty="0"/>
              <a:t>Segmentation</a:t>
            </a:r>
            <a:endParaRPr lang="en-IN" b="1" dirty="0"/>
          </a:p>
        </p:txBody>
      </p:sp>
      <p:sp>
        <p:nvSpPr>
          <p:cNvPr id="3" name="Content Placeholder 2">
            <a:extLst>
              <a:ext uri="{FF2B5EF4-FFF2-40B4-BE49-F238E27FC236}">
                <a16:creationId xmlns:a16="http://schemas.microsoft.com/office/drawing/2014/main" id="{9190E598-3046-B23D-8DD0-AA9EBA6B2311}"/>
              </a:ext>
            </a:extLst>
          </p:cNvPr>
          <p:cNvSpPr>
            <a:spLocks noGrp="1"/>
          </p:cNvSpPr>
          <p:nvPr>
            <p:ph idx="1"/>
          </p:nvPr>
        </p:nvSpPr>
        <p:spPr/>
        <p:txBody>
          <a:bodyPr>
            <a:normAutofit/>
          </a:bodyPr>
          <a:lstStyle/>
          <a:p>
            <a:r>
              <a:rPr lang="en-US" sz="2400" dirty="0"/>
              <a:t>Another approach to efficient memory management is that of segmentation.</a:t>
            </a:r>
          </a:p>
          <a:p>
            <a:r>
              <a:rPr lang="en-US" sz="2400" dirty="0"/>
              <a:t> Instead of allocating fixed-size pages to processes, memory segments of varied lengths are assigned to computing operations based on their memory needs. </a:t>
            </a:r>
          </a:p>
          <a:p>
            <a:r>
              <a:rPr lang="en-US" sz="2400" dirty="0"/>
              <a:t>In contrast to paging, segmentation does not waste memory segments.</a:t>
            </a:r>
            <a:endParaRPr lang="en-IN" sz="2400" dirty="0"/>
          </a:p>
        </p:txBody>
      </p:sp>
    </p:spTree>
    <p:extLst>
      <p:ext uri="{BB962C8B-B14F-4D97-AF65-F5344CB8AC3E}">
        <p14:creationId xmlns:p14="http://schemas.microsoft.com/office/powerpoint/2010/main" val="31716602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036B8-B3ED-134C-F0B7-E531899A068A}"/>
              </a:ext>
            </a:extLst>
          </p:cNvPr>
          <p:cNvSpPr>
            <a:spLocks noGrp="1"/>
          </p:cNvSpPr>
          <p:nvPr>
            <p:ph type="title"/>
          </p:nvPr>
        </p:nvSpPr>
        <p:spPr/>
        <p:txBody>
          <a:bodyPr/>
          <a:lstStyle/>
          <a:p>
            <a:r>
              <a:rPr lang="en-US" b="1" dirty="0"/>
              <a:t>Benefits Of Virtual memory</a:t>
            </a:r>
            <a:endParaRPr lang="en-IN" b="1" dirty="0"/>
          </a:p>
        </p:txBody>
      </p:sp>
      <p:sp>
        <p:nvSpPr>
          <p:cNvPr id="3" name="Content Placeholder 2">
            <a:extLst>
              <a:ext uri="{FF2B5EF4-FFF2-40B4-BE49-F238E27FC236}">
                <a16:creationId xmlns:a16="http://schemas.microsoft.com/office/drawing/2014/main" id="{C7094D86-8C69-6456-5637-D51C40D3C3C2}"/>
              </a:ext>
            </a:extLst>
          </p:cNvPr>
          <p:cNvSpPr>
            <a:spLocks noGrp="1"/>
          </p:cNvSpPr>
          <p:nvPr>
            <p:ph idx="1"/>
          </p:nvPr>
        </p:nvSpPr>
        <p:spPr/>
        <p:txBody>
          <a:bodyPr>
            <a:normAutofit/>
          </a:bodyPr>
          <a:lstStyle/>
          <a:p>
            <a:r>
              <a:rPr lang="en-US" sz="2400" b="1" dirty="0"/>
              <a:t>Balance the shortage of physical space:</a:t>
            </a:r>
          </a:p>
          <a:p>
            <a:pPr marL="0" indent="0">
              <a:buNone/>
            </a:pPr>
            <a:r>
              <a:rPr lang="en-US" sz="2400" dirty="0"/>
              <a:t>Paging and segmentation methods ensure that main memory is freed up for necessary and critical operations.</a:t>
            </a:r>
          </a:p>
          <a:p>
            <a:r>
              <a:rPr lang="en-IN" sz="2400" b="1" dirty="0"/>
              <a:t>Inexpensive virtual memory</a:t>
            </a:r>
            <a:r>
              <a:rPr lang="en-US" sz="2400" dirty="0"/>
              <a:t>:</a:t>
            </a:r>
          </a:p>
          <a:p>
            <a:pPr marL="0" indent="0">
              <a:buNone/>
            </a:pPr>
            <a:r>
              <a:rPr lang="en-US" sz="2400" dirty="0"/>
              <a:t>It settles within the system’s hardware limit and boosts the device performance, especially in mobile phones, without causing a financial burden.</a:t>
            </a:r>
            <a:endParaRPr lang="en-IN" sz="2400" dirty="0"/>
          </a:p>
        </p:txBody>
      </p:sp>
    </p:spTree>
    <p:extLst>
      <p:ext uri="{BB962C8B-B14F-4D97-AF65-F5344CB8AC3E}">
        <p14:creationId xmlns:p14="http://schemas.microsoft.com/office/powerpoint/2010/main" val="39487846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EC420-009B-7F15-793F-68D5BB0866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51994E-D098-A93D-5AEC-331F67C08DB6}"/>
              </a:ext>
            </a:extLst>
          </p:cNvPr>
          <p:cNvSpPr>
            <a:spLocks noGrp="1"/>
          </p:cNvSpPr>
          <p:nvPr>
            <p:ph idx="1"/>
          </p:nvPr>
        </p:nvSpPr>
        <p:spPr/>
        <p:txBody>
          <a:bodyPr/>
          <a:lstStyle/>
          <a:p>
            <a:r>
              <a:rPr lang="en-IN" b="1" dirty="0"/>
              <a:t>Supports multitasking and collaboration</a:t>
            </a:r>
          </a:p>
          <a:p>
            <a:pPr marL="0" indent="0">
              <a:buNone/>
            </a:pPr>
            <a:r>
              <a:rPr lang="en-US" dirty="0"/>
              <a:t>virtual memory enables multiprogramming wherein multiple users or processes can access shared memory, enhancing CPU and RAM utilization.</a:t>
            </a:r>
          </a:p>
          <a:p>
            <a:r>
              <a:rPr lang="en-IN" b="1" dirty="0"/>
              <a:t>Enhance data security</a:t>
            </a:r>
            <a:r>
              <a:rPr lang="en-US" b="1" dirty="0"/>
              <a:t>:</a:t>
            </a:r>
          </a:p>
          <a:p>
            <a:pPr marL="0" indent="0">
              <a:buNone/>
            </a:pPr>
            <a:r>
              <a:rPr lang="en-US" dirty="0"/>
              <a:t>It minimizes the chances of data manipulation and spying</a:t>
            </a:r>
            <a:endParaRPr lang="en-IN" dirty="0"/>
          </a:p>
        </p:txBody>
      </p:sp>
    </p:spTree>
    <p:extLst>
      <p:ext uri="{BB962C8B-B14F-4D97-AF65-F5344CB8AC3E}">
        <p14:creationId xmlns:p14="http://schemas.microsoft.com/office/powerpoint/2010/main" val="499885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D1F6F-768B-0E84-7189-61B5E52D4D50}"/>
              </a:ext>
            </a:extLst>
          </p:cNvPr>
          <p:cNvSpPr>
            <a:spLocks noGrp="1"/>
          </p:cNvSpPr>
          <p:nvPr>
            <p:ph type="title"/>
          </p:nvPr>
        </p:nvSpPr>
        <p:spPr/>
        <p:txBody>
          <a:bodyPr/>
          <a:lstStyle/>
          <a:p>
            <a:r>
              <a:rPr lang="en-IN" b="1" dirty="0"/>
              <a:t>Disadvantages of Virtual Memory</a:t>
            </a:r>
          </a:p>
        </p:txBody>
      </p:sp>
      <p:sp>
        <p:nvSpPr>
          <p:cNvPr id="3" name="Content Placeholder 2">
            <a:extLst>
              <a:ext uri="{FF2B5EF4-FFF2-40B4-BE49-F238E27FC236}">
                <a16:creationId xmlns:a16="http://schemas.microsoft.com/office/drawing/2014/main" id="{754863C1-33F5-0413-632B-3F7134B0A586}"/>
              </a:ext>
            </a:extLst>
          </p:cNvPr>
          <p:cNvSpPr>
            <a:spLocks noGrp="1"/>
          </p:cNvSpPr>
          <p:nvPr>
            <p:ph idx="1"/>
          </p:nvPr>
        </p:nvSpPr>
        <p:spPr/>
        <p:txBody>
          <a:bodyPr>
            <a:normAutofit/>
          </a:bodyPr>
          <a:lstStyle/>
          <a:p>
            <a:r>
              <a:rPr lang="en-US" sz="2400" dirty="0"/>
              <a:t>It can slow down the system performance, as data needs to be constantly transferred between the physical memory and the hard disk. </a:t>
            </a:r>
          </a:p>
          <a:p>
            <a:r>
              <a:rPr lang="en-US" sz="2400" dirty="0"/>
              <a:t>It takes more time in switching between applications.</a:t>
            </a:r>
          </a:p>
          <a:p>
            <a:r>
              <a:rPr lang="en-US" sz="2400" dirty="0"/>
              <a:t>It can increase the risk of data loss or corruption, as data can be lost if the hard disk fails or if there is a power outage while data is being transferred to or from the hard disk. </a:t>
            </a:r>
          </a:p>
          <a:p>
            <a:r>
              <a:rPr lang="en-US" sz="2400" dirty="0"/>
              <a:t>It can increase the complexity of the memory management system, as the operating system needs to manage both physical and virtual memory.</a:t>
            </a:r>
            <a:endParaRPr lang="en-IN" sz="2400" dirty="0"/>
          </a:p>
        </p:txBody>
      </p:sp>
    </p:spTree>
    <p:extLst>
      <p:ext uri="{BB962C8B-B14F-4D97-AF65-F5344CB8AC3E}">
        <p14:creationId xmlns:p14="http://schemas.microsoft.com/office/powerpoint/2010/main" val="22078642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343D1-7496-5D25-0906-8CAA68EB6E21}"/>
              </a:ext>
            </a:extLst>
          </p:cNvPr>
          <p:cNvSpPr>
            <a:spLocks noGrp="1"/>
          </p:cNvSpPr>
          <p:nvPr>
            <p:ph type="title"/>
          </p:nvPr>
        </p:nvSpPr>
        <p:spPr/>
        <p:txBody>
          <a:bodyPr/>
          <a:lstStyle/>
          <a:p>
            <a:r>
              <a:rPr lang="en-IN" b="1" dirty="0"/>
              <a:t>Memory Interleaving</a:t>
            </a:r>
          </a:p>
        </p:txBody>
      </p:sp>
      <p:sp>
        <p:nvSpPr>
          <p:cNvPr id="3" name="Content Placeholder 2">
            <a:extLst>
              <a:ext uri="{FF2B5EF4-FFF2-40B4-BE49-F238E27FC236}">
                <a16:creationId xmlns:a16="http://schemas.microsoft.com/office/drawing/2014/main" id="{D29864DF-496C-8FD4-D202-1BD8E2D0812B}"/>
              </a:ext>
            </a:extLst>
          </p:cNvPr>
          <p:cNvSpPr>
            <a:spLocks noGrp="1"/>
          </p:cNvSpPr>
          <p:nvPr>
            <p:ph idx="1"/>
          </p:nvPr>
        </p:nvSpPr>
        <p:spPr/>
        <p:txBody>
          <a:bodyPr>
            <a:normAutofit/>
          </a:bodyPr>
          <a:lstStyle/>
          <a:p>
            <a:r>
              <a:rPr lang="en-US" sz="2400" dirty="0"/>
              <a:t>It is an abstraction technique which divides physical  memory into a number of modules or equal size chunks such that consecutive words in the address space are placed in distinct modules.</a:t>
            </a:r>
          </a:p>
          <a:p>
            <a:r>
              <a:rPr lang="en-US" sz="2400" dirty="0"/>
              <a:t>It spreads memory addresses uniformly across memory banks to compensate for the relatively poor speed of dynamic random-access memory (DRAM)</a:t>
            </a:r>
            <a:endParaRPr lang="en-IN" sz="2400" dirty="0"/>
          </a:p>
        </p:txBody>
      </p:sp>
    </p:spTree>
    <p:extLst>
      <p:ext uri="{BB962C8B-B14F-4D97-AF65-F5344CB8AC3E}">
        <p14:creationId xmlns:p14="http://schemas.microsoft.com/office/powerpoint/2010/main" val="30295289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C574C-6D41-F79A-DEDF-A90E1A145EBA}"/>
              </a:ext>
            </a:extLst>
          </p:cNvPr>
          <p:cNvSpPr>
            <a:spLocks noGrp="1"/>
          </p:cNvSpPr>
          <p:nvPr>
            <p:ph type="title"/>
          </p:nvPr>
        </p:nvSpPr>
        <p:spPr/>
        <p:txBody>
          <a:bodyPr/>
          <a:lstStyle/>
          <a:p>
            <a:r>
              <a:rPr lang="en-US" b="1" dirty="0"/>
              <a:t>Example:</a:t>
            </a:r>
            <a:endParaRPr lang="en-IN" b="1" dirty="0"/>
          </a:p>
        </p:txBody>
      </p:sp>
      <p:sp>
        <p:nvSpPr>
          <p:cNvPr id="3" name="Content Placeholder 2">
            <a:extLst>
              <a:ext uri="{FF2B5EF4-FFF2-40B4-BE49-F238E27FC236}">
                <a16:creationId xmlns:a16="http://schemas.microsoft.com/office/drawing/2014/main" id="{98CAB581-A6E1-69FA-E8B7-43D394A8C500}"/>
              </a:ext>
            </a:extLst>
          </p:cNvPr>
          <p:cNvSpPr>
            <a:spLocks noGrp="1"/>
          </p:cNvSpPr>
          <p:nvPr>
            <p:ph idx="1"/>
          </p:nvPr>
        </p:nvSpPr>
        <p:spPr/>
        <p:txBody>
          <a:bodyPr>
            <a:normAutofit/>
          </a:bodyPr>
          <a:lstStyle/>
          <a:p>
            <a:r>
              <a:rPr lang="en-US" sz="2400" dirty="0"/>
              <a:t>Suppose we have 4 memory banks, each containing 256 bytes, and then </a:t>
            </a:r>
            <a:r>
              <a:rPr lang="en-US" sz="2400" b="1" dirty="0"/>
              <a:t>the Block Oriented scheme </a:t>
            </a:r>
            <a:r>
              <a:rPr lang="en-US" sz="2400" dirty="0"/>
              <a:t>(no interleaving) will assign virtual addresses 0 to 255 to the first bank and 256 to 511 to the second bank. </a:t>
            </a:r>
          </a:p>
          <a:p>
            <a:r>
              <a:rPr lang="en-US" sz="2400" dirty="0"/>
              <a:t>But in </a:t>
            </a:r>
            <a:r>
              <a:rPr lang="en-US" sz="2400" b="1" dirty="0"/>
              <a:t>Interleaved memory, </a:t>
            </a:r>
            <a:r>
              <a:rPr lang="en-US" sz="2400" dirty="0"/>
              <a:t>virtual address 0 will be with the first bank, 1 with the second memory bank, 2 with the third bank and 3 with the fourth, and then 4 with the first memory bank again</a:t>
            </a:r>
            <a:endParaRPr lang="en-IN" sz="2400" dirty="0"/>
          </a:p>
        </p:txBody>
      </p:sp>
    </p:spTree>
    <p:extLst>
      <p:ext uri="{BB962C8B-B14F-4D97-AF65-F5344CB8AC3E}">
        <p14:creationId xmlns:p14="http://schemas.microsoft.com/office/powerpoint/2010/main" val="42344459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6F1F-00F2-94BB-6EED-AF5789113D18}"/>
              </a:ext>
            </a:extLst>
          </p:cNvPr>
          <p:cNvSpPr>
            <a:spLocks noGrp="1"/>
          </p:cNvSpPr>
          <p:nvPr>
            <p:ph type="title"/>
          </p:nvPr>
        </p:nvSpPr>
        <p:spPr/>
        <p:txBody>
          <a:bodyPr/>
          <a:lstStyle/>
          <a:p>
            <a:r>
              <a:rPr lang="en-US" b="1" dirty="0"/>
              <a:t>Need of memory interleaving</a:t>
            </a:r>
            <a:endParaRPr lang="en-IN" b="1" dirty="0"/>
          </a:p>
        </p:txBody>
      </p:sp>
      <p:sp>
        <p:nvSpPr>
          <p:cNvPr id="3" name="Content Placeholder 2">
            <a:extLst>
              <a:ext uri="{FF2B5EF4-FFF2-40B4-BE49-F238E27FC236}">
                <a16:creationId xmlns:a16="http://schemas.microsoft.com/office/drawing/2014/main" id="{13067838-C030-9375-7DCA-45EF36C5FACE}"/>
              </a:ext>
            </a:extLst>
          </p:cNvPr>
          <p:cNvSpPr>
            <a:spLocks noGrp="1"/>
          </p:cNvSpPr>
          <p:nvPr>
            <p:ph idx="1"/>
          </p:nvPr>
        </p:nvSpPr>
        <p:spPr/>
        <p:txBody>
          <a:bodyPr>
            <a:normAutofit/>
          </a:bodyPr>
          <a:lstStyle/>
          <a:p>
            <a:r>
              <a:rPr lang="en-US" sz="2400" dirty="0"/>
              <a:t>When the processor requests data from the main memory, a block (chunk) of data is transferred to the cache and then to processor. </a:t>
            </a:r>
          </a:p>
          <a:p>
            <a:r>
              <a:rPr lang="en-US" sz="2400" dirty="0"/>
              <a:t>So whenever a cache miss occurs, the data is to be fetched from the main memory.</a:t>
            </a:r>
          </a:p>
          <a:p>
            <a:r>
              <a:rPr lang="en-US" sz="2400" dirty="0"/>
              <a:t> But main memory is relatively slower than the cache. </a:t>
            </a:r>
          </a:p>
          <a:p>
            <a:r>
              <a:rPr lang="en-US" sz="2400" dirty="0"/>
              <a:t>So to improve the access time of the main memory, interleaving is used.</a:t>
            </a:r>
            <a:endParaRPr lang="en-IN" sz="2400" dirty="0"/>
          </a:p>
        </p:txBody>
      </p:sp>
    </p:spTree>
    <p:extLst>
      <p:ext uri="{BB962C8B-B14F-4D97-AF65-F5344CB8AC3E}">
        <p14:creationId xmlns:p14="http://schemas.microsoft.com/office/powerpoint/2010/main" val="9964140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74BFF-2B42-7CE0-5148-18E359502F33}"/>
              </a:ext>
            </a:extLst>
          </p:cNvPr>
          <p:cNvSpPr>
            <a:spLocks noGrp="1"/>
          </p:cNvSpPr>
          <p:nvPr>
            <p:ph type="title"/>
          </p:nvPr>
        </p:nvSpPr>
        <p:spPr/>
        <p:txBody>
          <a:bodyPr/>
          <a:lstStyle/>
          <a:p>
            <a:r>
              <a:rPr lang="en-US" b="1" dirty="0"/>
              <a:t>Why is interleaved memory used?</a:t>
            </a:r>
            <a:endParaRPr lang="en-IN" b="1" dirty="0"/>
          </a:p>
        </p:txBody>
      </p:sp>
      <p:sp>
        <p:nvSpPr>
          <p:cNvPr id="3" name="Content Placeholder 2">
            <a:extLst>
              <a:ext uri="{FF2B5EF4-FFF2-40B4-BE49-F238E27FC236}">
                <a16:creationId xmlns:a16="http://schemas.microsoft.com/office/drawing/2014/main" id="{BBB23E70-913B-26F1-05A9-B5E9A713B00E}"/>
              </a:ext>
            </a:extLst>
          </p:cNvPr>
          <p:cNvSpPr>
            <a:spLocks noGrp="1"/>
          </p:cNvSpPr>
          <p:nvPr>
            <p:ph idx="1"/>
          </p:nvPr>
        </p:nvSpPr>
        <p:spPr/>
        <p:txBody>
          <a:bodyPr/>
          <a:lstStyle/>
          <a:p>
            <a:r>
              <a:rPr lang="en-US" b="1" dirty="0"/>
              <a:t>Overcoming Single Module Limitations</a:t>
            </a:r>
            <a:r>
              <a:rPr lang="en-US" dirty="0"/>
              <a:t>: </a:t>
            </a:r>
          </a:p>
          <a:p>
            <a:pPr marL="0" indent="0">
              <a:buNone/>
            </a:pPr>
            <a:r>
              <a:rPr lang="en-US" dirty="0"/>
              <a:t>Traditional memory systems rely on a single memory module to store and retrieve data, which can create a bottleneck due to limited data access speed. </a:t>
            </a:r>
          </a:p>
          <a:p>
            <a:pPr marL="0" indent="0">
              <a:buNone/>
            </a:pPr>
            <a:r>
              <a:rPr lang="en-US" dirty="0"/>
              <a:t>It divides memory into multiple banks, allowing simultaneous access to increase memory bandwidth and enhance data transfer rates.</a:t>
            </a:r>
            <a:endParaRPr lang="en-IN" dirty="0"/>
          </a:p>
        </p:txBody>
      </p:sp>
    </p:spTree>
    <p:extLst>
      <p:ext uri="{BB962C8B-B14F-4D97-AF65-F5344CB8AC3E}">
        <p14:creationId xmlns:p14="http://schemas.microsoft.com/office/powerpoint/2010/main" val="37590096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C38F-8CAD-461A-17ED-2C350ED0FC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505611-CAA0-94B0-7303-7A18AE241304}"/>
              </a:ext>
            </a:extLst>
          </p:cNvPr>
          <p:cNvSpPr>
            <a:spLocks noGrp="1"/>
          </p:cNvSpPr>
          <p:nvPr>
            <p:ph idx="1"/>
          </p:nvPr>
        </p:nvSpPr>
        <p:spPr/>
        <p:txBody>
          <a:bodyPr/>
          <a:lstStyle/>
          <a:p>
            <a:r>
              <a:rPr lang="en-US" b="1" dirty="0"/>
              <a:t>Reducing Memory Latency: </a:t>
            </a:r>
          </a:p>
          <a:p>
            <a:r>
              <a:rPr lang="en-US" dirty="0"/>
              <a:t>In non-interleaved memory systems, the CPU often waits for a memory module to complete its ongoing operation before accessing data.</a:t>
            </a:r>
          </a:p>
          <a:p>
            <a:r>
              <a:rPr lang="en-US" dirty="0"/>
              <a:t> It mitigates this latency issue by enabling the CPU to access data from different memory modules simultaneously, reducing waiting times and improving overall system performance.</a:t>
            </a:r>
            <a:endParaRPr lang="en-IN" dirty="0"/>
          </a:p>
        </p:txBody>
      </p:sp>
    </p:spTree>
    <p:extLst>
      <p:ext uri="{BB962C8B-B14F-4D97-AF65-F5344CB8AC3E}">
        <p14:creationId xmlns:p14="http://schemas.microsoft.com/office/powerpoint/2010/main" val="21248508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0103-CE50-D131-F0C7-6B63E3653B43}"/>
              </a:ext>
            </a:extLst>
          </p:cNvPr>
          <p:cNvSpPr>
            <a:spLocks noGrp="1"/>
          </p:cNvSpPr>
          <p:nvPr>
            <p:ph type="title"/>
          </p:nvPr>
        </p:nvSpPr>
        <p:spPr/>
        <p:txBody>
          <a:bodyPr/>
          <a:lstStyle/>
          <a:p>
            <a:r>
              <a:rPr lang="en-IN" b="1" dirty="0"/>
              <a:t>Classification of Memory Interleaving:</a:t>
            </a:r>
          </a:p>
        </p:txBody>
      </p:sp>
      <p:sp>
        <p:nvSpPr>
          <p:cNvPr id="3" name="Content Placeholder 2">
            <a:extLst>
              <a:ext uri="{FF2B5EF4-FFF2-40B4-BE49-F238E27FC236}">
                <a16:creationId xmlns:a16="http://schemas.microsoft.com/office/drawing/2014/main" id="{E1901782-4EB2-3BFF-A6BA-356E3605900C}"/>
              </a:ext>
            </a:extLst>
          </p:cNvPr>
          <p:cNvSpPr>
            <a:spLocks noGrp="1"/>
          </p:cNvSpPr>
          <p:nvPr>
            <p:ph idx="1"/>
          </p:nvPr>
        </p:nvSpPr>
        <p:spPr/>
        <p:txBody>
          <a:bodyPr/>
          <a:lstStyle/>
          <a:p>
            <a:r>
              <a:rPr lang="en-IN" dirty="0"/>
              <a:t> </a:t>
            </a:r>
            <a:r>
              <a:rPr lang="en-IN" b="1" dirty="0"/>
              <a:t>High Order Interleaving</a:t>
            </a:r>
          </a:p>
          <a:p>
            <a:r>
              <a:rPr lang="en-IN" b="1" dirty="0"/>
              <a:t>Low Order Interleaving</a:t>
            </a:r>
          </a:p>
        </p:txBody>
      </p:sp>
    </p:spTree>
    <p:extLst>
      <p:ext uri="{BB962C8B-B14F-4D97-AF65-F5344CB8AC3E}">
        <p14:creationId xmlns:p14="http://schemas.microsoft.com/office/powerpoint/2010/main" val="26714623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DD57D-8F4E-7EAA-CBDF-76F71DB5E7CC}"/>
              </a:ext>
            </a:extLst>
          </p:cNvPr>
          <p:cNvSpPr>
            <a:spLocks noGrp="1"/>
          </p:cNvSpPr>
          <p:nvPr>
            <p:ph type="title"/>
          </p:nvPr>
        </p:nvSpPr>
        <p:spPr/>
        <p:txBody>
          <a:bodyPr/>
          <a:lstStyle/>
          <a:p>
            <a:r>
              <a:rPr lang="en-IN" b="1" dirty="0"/>
              <a:t>High Order Interleaving</a:t>
            </a:r>
          </a:p>
        </p:txBody>
      </p:sp>
      <p:sp>
        <p:nvSpPr>
          <p:cNvPr id="3" name="Content Placeholder 2">
            <a:extLst>
              <a:ext uri="{FF2B5EF4-FFF2-40B4-BE49-F238E27FC236}">
                <a16:creationId xmlns:a16="http://schemas.microsoft.com/office/drawing/2014/main" id="{69F93E43-A696-0F2E-21F0-C11035177897}"/>
              </a:ext>
            </a:extLst>
          </p:cNvPr>
          <p:cNvSpPr>
            <a:spLocks noGrp="1"/>
          </p:cNvSpPr>
          <p:nvPr>
            <p:ph idx="1"/>
          </p:nvPr>
        </p:nvSpPr>
        <p:spPr/>
        <p:txBody>
          <a:bodyPr>
            <a:normAutofit/>
          </a:bodyPr>
          <a:lstStyle/>
          <a:p>
            <a:r>
              <a:rPr lang="en-US" sz="2400" dirty="0"/>
              <a:t>the most significant bits  decides memory banks where a particular location resides. </a:t>
            </a:r>
          </a:p>
          <a:p>
            <a:r>
              <a:rPr lang="en-US" sz="2400" dirty="0"/>
              <a:t>The least significant bits are sent as addresses to each chip. </a:t>
            </a:r>
          </a:p>
          <a:p>
            <a:r>
              <a:rPr lang="en-US" sz="2400" dirty="0"/>
              <a:t>One problem is that consecutive addresses tend to be in the same chip. </a:t>
            </a:r>
          </a:p>
          <a:p>
            <a:r>
              <a:rPr lang="en-US" sz="2400" dirty="0"/>
              <a:t>The maximum rate of data transfer is limited by the memory cycle time.</a:t>
            </a:r>
          </a:p>
          <a:p>
            <a:r>
              <a:rPr lang="en-US" sz="2400" dirty="0"/>
              <a:t>It is also known as Memory Banking.</a:t>
            </a:r>
            <a:endParaRPr lang="en-IN" sz="2400" dirty="0"/>
          </a:p>
        </p:txBody>
      </p:sp>
    </p:spTree>
    <p:extLst>
      <p:ext uri="{BB962C8B-B14F-4D97-AF65-F5344CB8AC3E}">
        <p14:creationId xmlns:p14="http://schemas.microsoft.com/office/powerpoint/2010/main" val="4663398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a:extLst>
              <a:ext uri="{FF2B5EF4-FFF2-40B4-BE49-F238E27FC236}">
                <a16:creationId xmlns:a16="http://schemas.microsoft.com/office/drawing/2014/main" id="{F7017014-C446-E72E-BC60-9435A3A019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365" y="738910"/>
            <a:ext cx="7610762" cy="4209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2112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85331-D036-6B50-6997-1A36691E8CD1}"/>
              </a:ext>
            </a:extLst>
          </p:cNvPr>
          <p:cNvSpPr>
            <a:spLocks noGrp="1"/>
          </p:cNvSpPr>
          <p:nvPr>
            <p:ph type="title"/>
          </p:nvPr>
        </p:nvSpPr>
        <p:spPr/>
        <p:txBody>
          <a:bodyPr/>
          <a:lstStyle/>
          <a:p>
            <a:r>
              <a:rPr lang="en-IN" b="1" dirty="0"/>
              <a:t>Low Order Interleaving</a:t>
            </a:r>
            <a:br>
              <a:rPr lang="en-IN" dirty="0"/>
            </a:br>
            <a:endParaRPr lang="en-IN" dirty="0"/>
          </a:p>
        </p:txBody>
      </p:sp>
      <p:sp>
        <p:nvSpPr>
          <p:cNvPr id="3" name="Content Placeholder 2">
            <a:extLst>
              <a:ext uri="{FF2B5EF4-FFF2-40B4-BE49-F238E27FC236}">
                <a16:creationId xmlns:a16="http://schemas.microsoft.com/office/drawing/2014/main" id="{4A010EC4-F09C-583D-DADC-1D6F47841C4C}"/>
              </a:ext>
            </a:extLst>
          </p:cNvPr>
          <p:cNvSpPr>
            <a:spLocks noGrp="1"/>
          </p:cNvSpPr>
          <p:nvPr>
            <p:ph idx="1"/>
          </p:nvPr>
        </p:nvSpPr>
        <p:spPr/>
        <p:txBody>
          <a:bodyPr>
            <a:normAutofit/>
          </a:bodyPr>
          <a:lstStyle/>
          <a:p>
            <a:r>
              <a:rPr lang="en-US" sz="2400" dirty="0"/>
              <a:t>The least significant bits select the memory bank (module) in low-order interleaving. </a:t>
            </a:r>
          </a:p>
          <a:p>
            <a:r>
              <a:rPr lang="en-US" sz="2400" dirty="0"/>
              <a:t>In this, consecutive memory addresses are in different memory modules, allowing memory access faster than the cycle time.</a:t>
            </a:r>
            <a:endParaRPr lang="en-IN" sz="2400" dirty="0"/>
          </a:p>
        </p:txBody>
      </p:sp>
    </p:spTree>
    <p:extLst>
      <p:ext uri="{BB962C8B-B14F-4D97-AF65-F5344CB8AC3E}">
        <p14:creationId xmlns:p14="http://schemas.microsoft.com/office/powerpoint/2010/main" val="9761822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ightbox">
            <a:extLst>
              <a:ext uri="{FF2B5EF4-FFF2-40B4-BE49-F238E27FC236}">
                <a16:creationId xmlns:a16="http://schemas.microsoft.com/office/drawing/2014/main" id="{B2722F84-FE92-484A-2119-F08F5248CB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109" y="942110"/>
            <a:ext cx="7333673" cy="4015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7321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F9783-41E0-E22D-B8E0-E0FA78B64213}"/>
              </a:ext>
            </a:extLst>
          </p:cNvPr>
          <p:cNvSpPr>
            <a:spLocks noGrp="1"/>
          </p:cNvSpPr>
          <p:nvPr>
            <p:ph type="title"/>
          </p:nvPr>
        </p:nvSpPr>
        <p:spPr/>
        <p:txBody>
          <a:bodyPr/>
          <a:lstStyle/>
          <a:p>
            <a:r>
              <a:rPr lang="en-IN" b="1" dirty="0"/>
              <a:t>Benefits of Interleaved Memory</a:t>
            </a:r>
          </a:p>
        </p:txBody>
      </p:sp>
      <p:sp>
        <p:nvSpPr>
          <p:cNvPr id="3" name="Content Placeholder 2">
            <a:extLst>
              <a:ext uri="{FF2B5EF4-FFF2-40B4-BE49-F238E27FC236}">
                <a16:creationId xmlns:a16="http://schemas.microsoft.com/office/drawing/2014/main" id="{9CD24C87-FFDC-574A-CEE9-672E5314226D}"/>
              </a:ext>
            </a:extLst>
          </p:cNvPr>
          <p:cNvSpPr>
            <a:spLocks noGrp="1"/>
          </p:cNvSpPr>
          <p:nvPr>
            <p:ph idx="1"/>
          </p:nvPr>
        </p:nvSpPr>
        <p:spPr>
          <a:xfrm>
            <a:off x="628650" y="1825625"/>
            <a:ext cx="7886700" cy="4351338"/>
          </a:xfrm>
        </p:spPr>
        <p:txBody>
          <a:bodyPr>
            <a:normAutofit fontScale="92500"/>
          </a:bodyPr>
          <a:lstStyle/>
          <a:p>
            <a:r>
              <a:rPr lang="en-US" sz="2400" dirty="0"/>
              <a:t>It allows simultaneous access to different modules of memory.</a:t>
            </a:r>
          </a:p>
          <a:p>
            <a:r>
              <a:rPr lang="en-US" sz="2400" dirty="0"/>
              <a:t>interleave memory makes a system more responsive and faster than non-interleaving.</a:t>
            </a:r>
          </a:p>
          <a:p>
            <a:r>
              <a:rPr lang="en-US" sz="2400" dirty="0"/>
              <a:t>with simultaneous memory access, the CPU processing time also decreases and increasing throughput.</a:t>
            </a:r>
          </a:p>
          <a:p>
            <a:r>
              <a:rPr lang="en-US" sz="2400" dirty="0"/>
              <a:t>Interleave memory is useful in the system with pipelining and vector processing.</a:t>
            </a:r>
          </a:p>
          <a:p>
            <a:r>
              <a:rPr lang="en-US" sz="2400" dirty="0"/>
              <a:t>An n-way interleaved memory in which main memory is divided into n-banks and the system can access n operands/instructions from n separate memory banks at the same time. This type of memory access can minimize memory access time</a:t>
            </a:r>
          </a:p>
          <a:p>
            <a:endParaRPr lang="en-IN" sz="2400" dirty="0"/>
          </a:p>
        </p:txBody>
      </p:sp>
    </p:spTree>
    <p:extLst>
      <p:ext uri="{BB962C8B-B14F-4D97-AF65-F5344CB8AC3E}">
        <p14:creationId xmlns:p14="http://schemas.microsoft.com/office/powerpoint/2010/main" val="42423750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3014</TotalTime>
  <Words>3477</Words>
  <Application>Microsoft Office PowerPoint</Application>
  <PresentationFormat>On-screen Show (4:3)</PresentationFormat>
  <Paragraphs>237</Paragraphs>
  <Slides>81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81</vt:i4>
      </vt:variant>
    </vt:vector>
  </HeadingPairs>
  <TitlesOfParts>
    <vt:vector size="87" baseType="lpstr">
      <vt:lpstr>Arial</vt:lpstr>
      <vt:lpstr>Calibri</vt:lpstr>
      <vt:lpstr>Calibri Light</vt:lpstr>
      <vt:lpstr>Nunito</vt:lpstr>
      <vt:lpstr>Times New Roman</vt:lpstr>
      <vt:lpstr>Office Theme</vt:lpstr>
      <vt:lpstr>Unit-3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Memory Hierarchy Design</vt:lpstr>
      <vt:lpstr>PowerPoint Presentation</vt:lpstr>
      <vt:lpstr>Types of Memory Hierarchy</vt:lpstr>
      <vt:lpstr>1. Registers</vt:lpstr>
      <vt:lpstr>2. Cache Memory</vt:lpstr>
      <vt:lpstr>Main Memory</vt:lpstr>
      <vt:lpstr>Types of Main Memory</vt:lpstr>
      <vt:lpstr>4. Secondary Storage</vt:lpstr>
      <vt:lpstr>Magnetic disks</vt:lpstr>
      <vt:lpstr>PowerPoint Presentation</vt:lpstr>
      <vt:lpstr>Magnetic tape</vt:lpstr>
      <vt:lpstr>Characteristics of Memory Hierarchy</vt:lpstr>
      <vt:lpstr>Advantages of Memory Hierarchy</vt:lpstr>
      <vt:lpstr>Cache memory</vt:lpstr>
      <vt:lpstr>PowerPoint Presentation</vt:lpstr>
      <vt:lpstr>Characteristics of Cache Memory</vt:lpstr>
      <vt:lpstr>Working of Cache Memory</vt:lpstr>
      <vt:lpstr>Benefits of Cache Memory</vt:lpstr>
      <vt:lpstr>PowerPoint Presentation</vt:lpstr>
      <vt:lpstr>PowerPoint Presentation</vt:lpstr>
      <vt:lpstr>Cache Hit and Cache Miss</vt:lpstr>
      <vt:lpstr>PowerPoint Presentation</vt:lpstr>
      <vt:lpstr>Types of Cache Memory </vt:lpstr>
      <vt:lpstr>PowerPoint Presentation</vt:lpstr>
      <vt:lpstr>PowerPoint Presentation</vt:lpstr>
      <vt:lpstr>Locality Of Reference</vt:lpstr>
      <vt:lpstr>PowerPoint Presentation</vt:lpstr>
      <vt:lpstr>PowerPoint Presentation</vt:lpstr>
      <vt:lpstr>Temporal locality</vt:lpstr>
      <vt:lpstr>PowerPoint Presentation</vt:lpstr>
      <vt:lpstr>Spatial locality</vt:lpstr>
      <vt:lpstr>PowerPoint Presentation</vt:lpstr>
      <vt:lpstr>Cache performance measurement</vt:lpstr>
      <vt:lpstr>Methods to reduce Hit Time</vt:lpstr>
      <vt:lpstr>Methods to reduce Miss Rate:</vt:lpstr>
      <vt:lpstr>Average Memory Access Time(AMAT)</vt:lpstr>
      <vt:lpstr>PowerPoint Presentation</vt:lpstr>
      <vt:lpstr>PowerPoint Presentation</vt:lpstr>
      <vt:lpstr>Cache Mapping</vt:lpstr>
      <vt:lpstr>Primary Terminologies</vt:lpstr>
      <vt:lpstr>Need for Cache Mapping</vt:lpstr>
      <vt:lpstr>Cache Mapping Techniques </vt:lpstr>
      <vt:lpstr>Direct Mapping</vt:lpstr>
      <vt:lpstr>PowerPoint Presentation</vt:lpstr>
      <vt:lpstr>PowerPoint Presentation</vt:lpstr>
      <vt:lpstr>Drawbacks </vt:lpstr>
      <vt:lpstr>Fully Associative Mapping</vt:lpstr>
      <vt:lpstr>PowerPoint Presentation</vt:lpstr>
      <vt:lpstr>PowerPoint Presentation</vt:lpstr>
      <vt:lpstr>Set Associative Mapping</vt:lpstr>
      <vt:lpstr>PowerPoint Presentation</vt:lpstr>
      <vt:lpstr>PowerPoint Presentation</vt:lpstr>
      <vt:lpstr>Virtual memory</vt:lpstr>
      <vt:lpstr>Types of virtual memory</vt:lpstr>
      <vt:lpstr>Segmentation</vt:lpstr>
      <vt:lpstr>Benefits Of Virtual memory</vt:lpstr>
      <vt:lpstr>PowerPoint Presentation</vt:lpstr>
      <vt:lpstr>Disadvantages of Virtual Memory</vt:lpstr>
      <vt:lpstr>Memory Interleaving</vt:lpstr>
      <vt:lpstr>Example:</vt:lpstr>
      <vt:lpstr>Need of memory interleaving</vt:lpstr>
      <vt:lpstr>Why is interleaved memory used?</vt:lpstr>
      <vt:lpstr>PowerPoint Presentation</vt:lpstr>
      <vt:lpstr>Classification of Memory Interleaving:</vt:lpstr>
      <vt:lpstr>High Order Interleaving</vt:lpstr>
      <vt:lpstr>PowerPoint Presentation</vt:lpstr>
      <vt:lpstr>Low Order Interleaving </vt:lpstr>
      <vt:lpstr>PowerPoint Presentation</vt:lpstr>
      <vt:lpstr>Benefits of Interleaved Memory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Riyanka Manna [ASE-AMARAVATI]</dc:creator>
  <cp:lastModifiedBy>Manna Riyanka</cp:lastModifiedBy>
  <cp:revision>33</cp:revision>
  <dcterms:created xsi:type="dcterms:W3CDTF">2024-06-07T08:04:18Z</dcterms:created>
  <dcterms:modified xsi:type="dcterms:W3CDTF">2026-03-23T16:31:24Z</dcterms:modified>
</cp:coreProperties>
</file>